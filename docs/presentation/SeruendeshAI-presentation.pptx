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0:00–0:15. Свободный час в Астане — куда пойти, что успеть и как дойти. SeruendeshAI отвечает 1–3 конкретными местами: почему подходят, сколько там провести и что делать. Всё, что покажем, работает на seruendesh.site.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0:15–0:35. Карты дают сотни точек, но не отвечают на главное: успею ли я, будет ли открыто, когда дойду, подходит ли это мне сейчас — с ребёнком, в мороз, перед рейсом.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0:35–0:55. Чат слева, карта справа. Пишешь желание своими словами — получаешь места, маршрут по улицам и следующую остановку. Можно уточнить: ближе, без кофе, в помещении.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0:55–1:25. Пример прямо из задания — «Я у здания Экспо, хочу что-то необычное на 1–2 часа, пешком». Это реальный ответ продакшена: расстояние и минуты посчитал код по графу улиц, часы — с источником, а план визита написал ИИ по проверенным фактам о месте.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1:25–2:00. Второй сценарий из задания — «Я турист, у меня 2 часа перед вылетом». Эти два часа Серу считает свободным временем до аэропорта: в 14:00 у Байтерека быть в аэропорту нужно к 15:45, с запасом 15 минут на дорогу. На карточке — «Выйти до 15:10»: такси до аэропорта уже учтено, и строка «2 туда + 30 на месте + 35 обратно = 67 из 105 мин». И напоминание: если это время до самого вылета — лучше ехать сразу, на регистрацию нужно 2–3 часа. Так же кодом: часы на момент прихода, праздники, погода, смог, темнота, дети.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2:00–2:25. Кнопка «Маршруты» собирает тематические прогулки от тебя: символы столицы, парки, музеи, кофе, вечер, с ребёнком — каждый с проверкой часов. «Начать прогулку» открывает весь маршрут в 2GIS или Google Картах. Фото «где я?», голос, три языка до названий мест. С телефона — как приложение, прогулка доступна без сети; в Telegram — тот же Серу. И MCP: Серу как инструмент для ИИ-агентов.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2:25–2:50. Запрос разбирают правила и gpt-6-luna. Код отбирает достижимые и открытые места, поиск BM25 + multilingual-e5 через RRF даёт 10 кандидатов. gpt-6-luna выбирает 1–3 и объясняет; валидатор пропускает только места из кандидатов и вырезает выдуманные часы и цены. Без ключа OpenAI — честный шаблонный ответ.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2:50–3:15. Датасет собирается автоматически: make data качает OpenStreetMap, Overture, Wikidata и Википедию, события — Ticketon и Sxodim, погода — Open-Meteo; раз в неделю GitHub Actions собирает заново и открывает PR. Часы работы — только из открытых и официальных источников: OSM, сайты мест и сетей, CityPass, официальные порталы, у каждого источник и дата; сейчас это 466 мест. Нет данных — пишем «часы неизвестны», не угадываем. 2ГИС сознательно не используем: лицензия запрещает извлекать и хранить их данные; на карточке есть кнопка «Открыть в 2ГИС». Рейтинги не показываем.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3:15–3:40. У каждого факта — источник и дата, на карточке — «туда + на месте = … из … мин». Неизвестные часы так и подписаны; в праздники уверенность ниже, а отметки посетителей «было закрыто» могут только снизить доверие. Приватность: геолокацию спрашиваем только после запроса, округляем до ~100 м и в ИИ не отправляем; координаты, номера домов и телефоны маскируются, адрес старта идёт в геокодер, а не в ИИ. Голос на сайте распознаёт браузер — Chrome отправляет звук в Google; в Telegram голосовые расшифровывает OpenAI.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3:40–4:00. Зачем это городу: страница «Для города» показывает, что ищут жители и гости, где и когда, и где город не отвечает — рядом ничего нет или всё закрыто. Хранятся только счётчики: ячейка около километра, интервал три часа, значение видно от пяти запросов. Открытые агрегаты в JSON — для дашбордов НИЦ.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4:00–4:20. На продакшене 19.10: 170 из 170 автоматических проверок на 15 сценариях, включая официальные; медиана ответа 4,4 секунды. Около 1 340 автотестов в CI на каждый push — бэкенд, данные, QA, поиск, бот и фронтенд. Нейтральный ИИ-судья: 20 из 23 ответов без неподтверждённых утверждений. Следующий шаг — проверка на реальных прогулках.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4:20–4:35. Честно: часов работы в открытых данных мало — с источником 466 мест, у остальных пишем «часы неизвестны». Часы меняются — дата у каждого источника, праздники и отметки посетителей снижают уверенность. ИИ может ошибиться — валидатор и метка «идея ИИ». Лицензии — только открытые и официальные источники, данные 2ГИС не используем.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4:35–4:50. Модель — B2G white-label для городских сервисов: Smart Astana, Visit Astana, киоски аэропорта; плюс аналитика спроса для акимата. Заведения могут сами держать часы и фото актуальными. Это план, а не заключённые партнёрства: сначала пилот на реальных прогулках.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4:50–5:00. SeruendeshAI превращает свободное время в понятную прогулку по Астане. Попробуйте сами — QR ведёт на seruendesh.site, бот — @SeruendeshAl_bot.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Relationship Id="rId4" Type="http://schemas.openxmlformats.org/officeDocument/2006/relationships/hyperlink" Target="https://seruendesh.site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"/>
            <a:ext cx="219456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" y="3108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3F31"/>
                </a:solidFill>
                <a:latin typeface="Montserrat"/>
              </a:defRPr>
            </a:pPr>
            <a:r>
              <a:t>SeruendeshAI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918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5816F"/>
                </a:solidFill>
                <a:latin typeface="Montserrat"/>
              </a:defRPr>
            </a:pPr>
            <a:r>
              <a:t>01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5816F"/>
                </a:solidFill>
                <a:latin typeface="Montserrat"/>
              </a:defRPr>
            </a:pPr>
            <a:r>
              <a:t>AI-КОМПАНЬОН ДЛЯ ПРОГУЛОК ПО АСТАНЕ</a:t>
            </a:r>
          </a:p>
        </p:txBody>
      </p:sp>
      <p:pic>
        <p:nvPicPr>
          <p:cNvPr id="6" name="Picture 5" descr="friends-golden.png"/>
          <p:cNvPicPr>
            <a:picLocks noChangeAspect="1"/>
          </p:cNvPicPr>
          <p:nvPr/>
        </p:nvPicPr>
        <p:blipFill>
          <a:blip r:embed="rId4"/>
          <a:srcRect l="20657" r="20657"/>
          <a:stretch>
            <a:fillRect/>
          </a:stretch>
        </p:blipFill>
        <p:spPr>
          <a:xfrm>
            <a:off x="6080760" y="914400"/>
            <a:ext cx="5577840" cy="5349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44768" y="632764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5816F"/>
                </a:solidFill>
                <a:latin typeface="Montserrat"/>
              </a:defRPr>
            </a:pPr>
            <a:r>
              <a:t>ИИ-иллюстрация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4400" b="1">
                <a:solidFill>
                  <a:srgbClr val="123F31"/>
                </a:solidFill>
                <a:latin typeface="Montserrat"/>
              </a:defRPr>
            </a:pPr>
            <a:r>
              <a:t>Свободный час.</a:t>
            </a:r>
          </a:p>
          <a:p>
            <a:pPr>
              <a:spcAft>
                <a:spcPts val="700"/>
              </a:spcAft>
              <a:defRPr sz="4400" b="1">
                <a:solidFill>
                  <a:srgbClr val="123F31"/>
                </a:solidFill>
                <a:latin typeface="Montserrat"/>
              </a:defRPr>
            </a:pPr>
            <a:r>
              <a:t>Своя Астана.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47472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75816F"/>
                </a:solidFill>
                <a:latin typeface="Montserrat"/>
              </a:defRPr>
            </a:pPr>
            <a:r>
              <a:t>Прогулка, которая начинается</a:t>
            </a:r>
          </a:p>
          <a:p>
            <a:pPr>
              <a:spcAft>
                <a:spcPts val="700"/>
              </a:spcAft>
              <a:defRPr sz="2200" b="0">
                <a:solidFill>
                  <a:srgbClr val="75816F"/>
                </a:solidFill>
                <a:latin typeface="Montserrat"/>
              </a:defRPr>
            </a:pPr>
            <a:r>
              <a:t>с твоего желания.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4617720"/>
            <a:ext cx="1874519" cy="347472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4695444"/>
            <a:ext cx="169163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23F31"/>
                </a:solidFill>
                <a:latin typeface="Montserrat"/>
              </a:defRPr>
            </a:pPr>
            <a:r>
              <a:t>30 / 60 / 120 минут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4617720"/>
            <a:ext cx="1600200" cy="347472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5768" y="4695444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23F31"/>
                </a:solidFill>
                <a:latin typeface="Montserrat"/>
              </a:defRPr>
            </a:pPr>
            <a:r>
              <a:t>RU · ҚАЗ · EN</a:t>
            </a:r>
          </a:p>
        </p:txBody>
      </p:sp>
      <p:pic>
        <p:nvPicPr>
          <p:cNvPr id="14" name="Picture 13" descr="ser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7405" y="4206240"/>
            <a:ext cx="2332149" cy="24231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"/>
            <a:ext cx="219456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" y="3108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3F31"/>
                </a:solidFill>
                <a:latin typeface="Montserrat"/>
              </a:defRPr>
            </a:pPr>
            <a:r>
              <a:t>SeruendeshAI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918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5816F"/>
                </a:solidFill>
                <a:latin typeface="Montserrat"/>
              </a:defRPr>
            </a:pPr>
            <a:r>
              <a:t>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5816F"/>
                </a:solidFill>
                <a:latin typeface="Montserrat"/>
              </a:defRPr>
            </a:pPr>
            <a:r>
              <a:t>01 · 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123F31"/>
                </a:solidFill>
                <a:latin typeface="Montserrat"/>
              </a:defRPr>
            </a:pPr>
            <a:r>
              <a:t>Иногда сложнее выбрать,</a:t>
            </a:r>
          </a:p>
          <a:p>
            <a:pPr>
              <a:spcAft>
                <a:spcPts val="700"/>
              </a:spcAft>
              <a:defRPr sz="3200" b="1">
                <a:solidFill>
                  <a:srgbClr val="123F31"/>
                </a:solidFill>
                <a:latin typeface="Montserrat"/>
              </a:defRPr>
            </a:pPr>
            <a:r>
              <a:t>чем просто выйти.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356616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3044952"/>
            <a:ext cx="457200" cy="347472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122676"/>
            <a:ext cx="274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23F31"/>
                </a:solidFill>
                <a:latin typeface="Montserrat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611880"/>
            <a:ext cx="31638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23F31"/>
                </a:solidFill>
                <a:latin typeface="Montserrat"/>
              </a:defRPr>
            </a:pPr>
            <a:r>
              <a:t>Есть только час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526280"/>
            <a:ext cx="316382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75816F"/>
                </a:solidFill>
                <a:latin typeface="Montserrat"/>
              </a:defRPr>
            </a:pPr>
            <a:r>
              <a:t>Нужно учесть дорогу</a:t>
            </a:r>
          </a:p>
          <a:p>
            <a:pPr>
              <a:spcAft>
                <a:spcPts val="700"/>
              </a:spcAft>
              <a:defRPr sz="1500" b="0">
                <a:solidFill>
                  <a:srgbClr val="75816F"/>
                </a:solidFill>
                <a:latin typeface="Montserrat"/>
              </a:defRPr>
            </a:pPr>
            <a:r>
              <a:t>и время на месте.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2834640"/>
            <a:ext cx="356616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17136" y="3044952"/>
            <a:ext cx="457200" cy="347472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3122676"/>
            <a:ext cx="274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23F31"/>
                </a:solidFill>
                <a:latin typeface="Montserrat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3611880"/>
            <a:ext cx="31638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23F31"/>
                </a:solidFill>
                <a:latin typeface="Montserrat"/>
              </a:defRPr>
            </a:pPr>
            <a:r>
              <a:t>Хочется по настроению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4526280"/>
            <a:ext cx="316382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75816F"/>
                </a:solidFill>
                <a:latin typeface="Montserrat"/>
              </a:defRPr>
            </a:pPr>
            <a:r>
              <a:t>Кофе, тишина, прогулка</a:t>
            </a:r>
          </a:p>
          <a:p>
            <a:pPr>
              <a:spcAft>
                <a:spcPts val="700"/>
              </a:spcAft>
              <a:defRPr sz="1500" b="0">
                <a:solidFill>
                  <a:srgbClr val="75816F"/>
                </a:solidFill>
                <a:latin typeface="Montserrat"/>
              </a:defRPr>
            </a:pPr>
            <a:r>
              <a:t>или время с ребёнком.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2834640"/>
            <a:ext cx="356616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84464" y="3044952"/>
            <a:ext cx="457200" cy="347472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3122676"/>
            <a:ext cx="274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23F31"/>
                </a:solidFill>
                <a:latin typeface="Montserrat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3611880"/>
            <a:ext cx="31638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23F31"/>
                </a:solidFill>
                <a:latin typeface="Montserrat"/>
              </a:defRPr>
            </a:pPr>
            <a:r>
              <a:t>Город незнаком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4526280"/>
            <a:ext cx="316382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75816F"/>
                </a:solidFill>
                <a:latin typeface="Montserrat"/>
              </a:defRPr>
            </a:pPr>
            <a:r>
              <a:t>Где начать, что рядом</a:t>
            </a:r>
          </a:p>
          <a:p>
            <a:pPr>
              <a:spcAft>
                <a:spcPts val="700"/>
              </a:spcAft>
              <a:defRPr sz="1500" b="0">
                <a:solidFill>
                  <a:srgbClr val="75816F"/>
                </a:solidFill>
                <a:latin typeface="Montserrat"/>
              </a:defRPr>
            </a:pPr>
            <a:r>
              <a:t>и куда идти дальше?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"/>
            <a:ext cx="219456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" y="3108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3F31"/>
                </a:solidFill>
                <a:latin typeface="Montserrat"/>
              </a:defRPr>
            </a:pPr>
            <a:r>
              <a:t>SeruendeshAI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918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5816F"/>
                </a:solidFill>
                <a:latin typeface="Montserrat"/>
              </a:defRPr>
            </a:pPr>
            <a:r>
              <a:t>03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5816F"/>
                </a:solidFill>
                <a:latin typeface="Montserrat"/>
              </a:defRPr>
            </a:pPr>
            <a:r>
              <a:t>02 · ПРОДУКТ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123F31"/>
                </a:solidFill>
                <a:latin typeface="Montserrat"/>
              </a:defRPr>
            </a:pPr>
            <a:r>
              <a:t>Один экран. Понятный следующий шаг.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873252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sktop-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811" y="2395728"/>
            <a:ext cx="7250176" cy="4078224"/>
          </a:xfrm>
          <a:prstGeom prst="rect">
            <a:avLst/>
          </a:prstGeom>
        </p:spPr>
      </p:pic>
      <p:pic>
        <p:nvPicPr>
          <p:cNvPr id="9" name="Picture 8" descr="seru-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943" y="3840480"/>
            <a:ext cx="2376152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64040" y="2560320"/>
            <a:ext cx="2286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23F31"/>
                </a:solidFill>
                <a:latin typeface="Montserrat"/>
              </a:defRPr>
            </a:pPr>
            <a:r>
              <a:t>Запрос.</a:t>
            </a:r>
          </a:p>
          <a:p>
            <a:pPr>
              <a:spcAft>
                <a:spcPts val="700"/>
              </a:spcAft>
              <a:defRPr sz="2200" b="1">
                <a:solidFill>
                  <a:srgbClr val="123F31"/>
                </a:solidFill>
                <a:latin typeface="Montserrat"/>
              </a:defRPr>
            </a:pPr>
            <a:r>
              <a:t>Выбор.</a:t>
            </a:r>
          </a:p>
          <a:p>
            <a:pPr>
              <a:spcAft>
                <a:spcPts val="700"/>
              </a:spcAft>
              <a:defRPr sz="2200" b="1">
                <a:solidFill>
                  <a:srgbClr val="123F31"/>
                </a:solidFill>
                <a:latin typeface="Montserrat"/>
              </a:defRPr>
            </a:pPr>
            <a:r>
              <a:t>Прогулка.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"/>
            <a:ext cx="219456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" y="3108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3F31"/>
                </a:solidFill>
                <a:latin typeface="Montserrat"/>
              </a:defRPr>
            </a:pPr>
            <a:r>
              <a:t>SeruendeshAI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918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5816F"/>
                </a:solidFill>
                <a:latin typeface="Montserrat"/>
              </a:defRPr>
            </a:pPr>
            <a:r>
              <a:t>04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5816F"/>
                </a:solidFill>
                <a:latin typeface="Montserrat"/>
              </a:defRPr>
            </a:pPr>
            <a:r>
              <a:t>03 · ОТВЕТ ПО ФОРМАТУ ЗАДАНИЯ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123F31"/>
                </a:solidFill>
                <a:latin typeface="Montserrat"/>
              </a:defRPr>
            </a:pPr>
            <a:r>
              <a:t>1–3 места: почему, сколько времени, что делать.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7406640" cy="822960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23F31"/>
                </a:solidFill>
                <a:latin typeface="Montserrat"/>
              </a:defRPr>
            </a:pPr>
            <a:r>
              <a:t>«Я у здания Экспо 2017, хочу что-то необычное</a:t>
            </a:r>
          </a:p>
          <a:p>
            <a:pPr>
              <a:spcAft>
                <a:spcPts val="700"/>
              </a:spcAft>
              <a:defRPr sz="1400" b="1">
                <a:solidFill>
                  <a:srgbClr val="123F31"/>
                </a:solidFill>
                <a:latin typeface="Montserrat"/>
              </a:defRPr>
            </a:pPr>
            <a:r>
              <a:t>на 1–2 часа, пешком»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80"/>
            <a:ext cx="7406640" cy="1719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82696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3F31"/>
                </a:solidFill>
                <a:latin typeface="Montserrat"/>
              </a:defRPr>
            </a:pPr>
            <a:r>
              <a:t>Nur Alem Museum of Future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75816F"/>
                </a:solidFill>
                <a:latin typeface="Montserrat"/>
              </a:defRPr>
            </a:pPr>
            <a:r>
              <a:t>980 м · 14 мин пешком · 40–75 мин на месте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0448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23F31"/>
                </a:solidFill>
                <a:latin typeface="Montserrat"/>
              </a:defRPr>
            </a:pPr>
            <a:r>
              <a:t>Почему: Сфера бывшего павильона Казахстана — уже необычный ориентир, а внутри музей с экспозициями об энергии космоса, солнца и ветра.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6168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23F31"/>
                </a:solidFill>
                <a:latin typeface="Montserrat"/>
              </a:defRPr>
            </a:pPr>
            <a:r>
              <a:t>Что делать: Сначала осмотрите этажи с экспозициями об энергии, затем задержитесь у самой сферы и выберите для продолжения прогулки Тәуелсіздіктің 25 жылдығы.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37760"/>
            <a:ext cx="7406640" cy="1719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065776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3F31"/>
                </a:solidFill>
                <a:latin typeface="Montserrat"/>
              </a:defRPr>
            </a:pPr>
            <a:r>
              <a:t>25-ти летие Независимости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9496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75816F"/>
                </a:solidFill>
                <a:latin typeface="Montserrat"/>
              </a:defRPr>
            </a:pPr>
            <a:r>
              <a:t>930 м · 13 мин пешком · 15–30 мин на месте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8756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23F31"/>
                </a:solidFill>
                <a:latin typeface="Montserrat"/>
              </a:defRPr>
            </a:pPr>
            <a:r>
              <a:t>Почему: Эта стела высотой около 70 метров стоит на территории ЭКСПО; её 25 граней символизируют годы независимости.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14476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23F31"/>
                </a:solidFill>
                <a:latin typeface="Montserrat"/>
              </a:defRPr>
            </a:pPr>
            <a:r>
              <a:t>Что делать: Обойдите стелу, рассмотрите её грани и сделайте снимок снизу вверх; затем можно вернуться к сфере Nur Alem.</a:t>
            </a:r>
          </a:p>
        </p:txBody>
      </p:sp>
      <p:pic>
        <p:nvPicPr>
          <p:cNvPr id="19" name="Picture 18" descr="m-answ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322" y="2240280"/>
            <a:ext cx="2049274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"/>
            <a:ext cx="219456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" y="3108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3F31"/>
                </a:solidFill>
                <a:latin typeface="Montserrat"/>
              </a:defRPr>
            </a:pPr>
            <a:r>
              <a:t>SeruendeshAI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918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5816F"/>
                </a:solidFill>
                <a:latin typeface="Montserrat"/>
              </a:defRPr>
            </a:pPr>
            <a:r>
              <a:t>05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5816F"/>
                </a:solidFill>
                <a:latin typeface="Montserrat"/>
              </a:defRPr>
            </a:pPr>
            <a:r>
              <a:t>04 · КОНТЕКСТ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123F31"/>
                </a:solidFill>
                <a:latin typeface="Montserrat"/>
              </a:defRPr>
            </a:pPr>
            <a:r>
              <a:t>Факты считает код, а не догадки модели.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715000" cy="4297680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487168"/>
            <a:ext cx="1965960" cy="347472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64892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23F31"/>
                </a:solidFill>
                <a:latin typeface="Montserrat"/>
              </a:defRPr>
            </a:pPr>
            <a:r>
              <a:t>Сценарий из задания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9923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3F31"/>
                </a:solidFill>
                <a:latin typeface="Montserrat"/>
              </a:defRPr>
            </a:pPr>
            <a:r>
              <a:t>«Я турист, у меня 2 часа перед вылетом»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290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14:00, у Байтерека → быть в аэропорту к 15:45 (запас 15 мин)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40480"/>
            <a:ext cx="525780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0050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3F31"/>
                </a:solidFill>
                <a:latin typeface="Montserrat"/>
              </a:defRPr>
            </a:pPr>
            <a:r>
              <a:t>Байтерек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67328" y="3959352"/>
            <a:ext cx="2084831" cy="384048"/>
          </a:xfrm>
          <a:prstGeom prst="roundRect">
            <a:avLst>
              <a:gd name="adj" fmla="val 12000"/>
            </a:avLst>
          </a:prstGeom>
          <a:solidFill>
            <a:srgbClr val="D1E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7328" y="4041648"/>
            <a:ext cx="20848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23F31"/>
                </a:solidFill>
                <a:latin typeface="Montserrat"/>
              </a:defRPr>
            </a:pPr>
            <a:r>
              <a:t>Выйти до 15:10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" y="4526280"/>
            <a:ext cx="92310" cy="128016"/>
          </a:xfrm>
          <a:prstGeom prst="rect">
            <a:avLst/>
          </a:prstGeom>
          <a:solidFill>
            <a:srgbClr val="1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9862" y="4526280"/>
            <a:ext cx="1384662" cy="128016"/>
          </a:xfrm>
          <a:prstGeom prst="rect">
            <a:avLst/>
          </a:prstGeom>
          <a:solidFill>
            <a:srgbClr val="D1E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4525" y="4526280"/>
            <a:ext cx="1615440" cy="128016"/>
          </a:xfrm>
          <a:prstGeom prst="rect">
            <a:avLst/>
          </a:prstGeom>
          <a:solidFill>
            <a:srgbClr val="A9B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79965" y="4526280"/>
            <a:ext cx="1753906" cy="128016"/>
          </a:xfrm>
          <a:prstGeom prst="rect">
            <a:avLst/>
          </a:prstGeom>
          <a:solidFill>
            <a:srgbClr val="E1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81888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50" b="0">
                <a:solidFill>
                  <a:srgbClr val="123F31"/>
                </a:solidFill>
                <a:latin typeface="Montserrat"/>
              </a:defRPr>
            </a:pPr>
            <a:r>
              <a:t>2 туда + 30 на месте + 35 обратно = 67 из 105 мин · запас 38 мин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2 часа — свободное время до аэропорта; такси уже в «Выйти до».</a:t>
            </a:r>
          </a:p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И напоминание: если это время до самого вылета — ехать сразу, на регистрацию нужно 2–3 часа.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286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3F31"/>
                </a:solidFill>
                <a:latin typeface="Montserrat"/>
              </a:defRPr>
            </a:pPr>
            <a:r>
              <a:t>Часы на момент прихода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615184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Не «открыто сейчас», а когда дойдёшь; в праздники РК уверенность ниже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154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3F31"/>
                </a:solidFill>
                <a:latin typeface="Montserrat"/>
              </a:defRPr>
            </a:pPr>
            <a:r>
              <a:t>Пешком по улицам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483864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Граф OSM и мосты через Есиль, а не расстояние по прямой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023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3F31"/>
                </a:solidFill>
                <a:latin typeface="Montserrat"/>
              </a:defRPr>
            </a:pPr>
            <a:r>
              <a:t>Погода, воздух, темнота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352544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Мороз и смог — места в тепле; неосвещённые парки вечером не советуем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892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3F31"/>
                </a:solidFill>
                <a:latin typeface="Montserrat"/>
              </a:defRPr>
            </a:pPr>
            <a:r>
              <a:t>Дети и доступность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221224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Бары и кальянные исключены кодом; пандусы — только по данным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760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3F31"/>
                </a:solidFill>
                <a:latin typeface="Montserrat"/>
              </a:defRPr>
            </a:pPr>
            <a:r>
              <a:t>Только Астана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6089904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Места, фото, события и карта — в границах города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"/>
            <a:ext cx="219456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" y="3108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3F31"/>
                </a:solidFill>
                <a:latin typeface="Montserrat"/>
              </a:defRPr>
            </a:pPr>
            <a:r>
              <a:t>SeruendeshAI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918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5816F"/>
                </a:solidFill>
                <a:latin typeface="Montserrat"/>
              </a:defRPr>
            </a:pPr>
            <a:r>
              <a:t>06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5816F"/>
                </a:solidFill>
                <a:latin typeface="Montserrat"/>
              </a:defRPr>
            </a:pPr>
            <a:r>
              <a:t>05 · БОЛЬШЕ, ЧЕМ СПИСОК МЕСТ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123F31"/>
                </a:solidFill>
                <a:latin typeface="Montserrat"/>
              </a:defRPr>
            </a:pPr>
            <a:r>
              <a:t>Маршруты, фото, голос — и Telegram.</a:t>
            </a:r>
          </a:p>
        </p:txBody>
      </p:sp>
      <p:pic>
        <p:nvPicPr>
          <p:cNvPr id="7" name="Picture 6" descr="m-ide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202" y="2194560"/>
            <a:ext cx="2049274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43400" y="2240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3F31"/>
                </a:solidFill>
                <a:latin typeface="Montserrat"/>
              </a:defRPr>
            </a:pPr>
            <a:r>
              <a:t>Готовые маршруты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569464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50" b="0">
                <a:solidFill>
                  <a:srgbClr val="75816F"/>
                </a:solidFill>
                <a:latin typeface="Montserrat"/>
              </a:defRPr>
            </a:pPr>
            <a:r>
              <a:t>Символы столицы, парки, музеи, кофе, вечер, с ребёнком — от твоей точки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971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3F31"/>
                </a:solidFill>
                <a:latin typeface="Montserrat"/>
              </a:defRPr>
            </a:pPr>
            <a:r>
              <a:t>«Начать прогулку»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300984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50" b="0">
                <a:solidFill>
                  <a:srgbClr val="75816F"/>
                </a:solidFill>
                <a:latin typeface="Montserrat"/>
              </a:defRPr>
            </a:pPr>
            <a:r>
              <a:t>Весь маршрут по точкам — в 2GIS или Google Картах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703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3F31"/>
                </a:solidFill>
                <a:latin typeface="Montserrat"/>
              </a:defRPr>
            </a:pPr>
            <a:r>
              <a:t>Фото «Где я?» и голос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032504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50" b="0">
                <a:solidFill>
                  <a:srgbClr val="75816F"/>
                </a:solidFill>
                <a:latin typeface="Montserrat"/>
              </a:defRPr>
            </a:pPr>
            <a:r>
              <a:t>Узнаёт место по фото; вопрос голосом на RU/KK/EN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434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3F31"/>
                </a:solidFill>
                <a:latin typeface="Montserrat"/>
              </a:defRPr>
            </a:pPr>
            <a:r>
              <a:t>Три языка до названий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764024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50" b="0">
                <a:solidFill>
                  <a:srgbClr val="75816F"/>
                </a:solidFill>
                <a:latin typeface="Montserrat"/>
              </a:defRPr>
            </a:pPr>
            <a:r>
              <a:t>1 882 места и 27 ориентиров: Бәйтерек / Baiterek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5166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3F31"/>
                </a:solidFill>
                <a:latin typeface="Montserrat"/>
              </a:defRPr>
            </a:pPr>
            <a:r>
              <a:t>Телефон и Telegram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5495544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50" b="0">
                <a:solidFill>
                  <a:srgbClr val="75816F"/>
                </a:solidFill>
                <a:latin typeface="Montserrat"/>
              </a:defRPr>
            </a:pPr>
            <a:r>
              <a:t>PWA на экране, прогулка без сети; @SeruendeshAl_bot: фото, голосовые, /routes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5897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3F31"/>
                </a:solidFill>
                <a:latin typeface="Montserrat"/>
              </a:defRPr>
            </a:pPr>
            <a:r>
              <a:t>MCP-коннектор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227064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50" b="0">
                <a:solidFill>
                  <a:srgbClr val="75816F"/>
                </a:solidFill>
                <a:latin typeface="Montserrat"/>
              </a:defRPr>
            </a:pPr>
            <a:r>
              <a:t>Серу как инструмент для Claude и других ИИ-агентов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"/>
            <a:ext cx="219456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" y="3108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3F31"/>
                </a:solidFill>
                <a:latin typeface="Montserrat"/>
              </a:defRPr>
            </a:pPr>
            <a:r>
              <a:t>SeruendeshAI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918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5816F"/>
                </a:solidFill>
                <a:latin typeface="Montserrat"/>
              </a:defRPr>
            </a:pPr>
            <a:r>
              <a:t>07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5816F"/>
                </a:solidFill>
                <a:latin typeface="Montserrat"/>
              </a:defRPr>
            </a:pPr>
            <a:r>
              <a:t>06 · ТЕХНОЛОГИЯ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123F31"/>
                </a:solidFill>
                <a:latin typeface="Montserrat"/>
              </a:defRPr>
            </a:pPr>
            <a:r>
              <a:t>RAG: код отбирает, ИИ объясняет.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97480"/>
            <a:ext cx="2578608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457200" cy="347472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958084"/>
            <a:ext cx="274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23F31"/>
                </a:solidFill>
                <a:latin typeface="Montserrat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23F31"/>
                </a:solidFill>
                <a:latin typeface="Montserrat"/>
              </a:defRPr>
            </a:pPr>
            <a:r>
              <a:t>Понять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5816F"/>
                </a:solidFill>
                <a:latin typeface="Montserrat"/>
              </a:defRPr>
            </a:pPr>
            <a:r>
              <a:t>Правила + gpt-6-luna:</a:t>
            </a:r>
          </a:p>
          <a:p>
            <a:pPr>
              <a:spcAft>
                <a:spcPts val="700"/>
              </a:spcAft>
              <a:defRPr sz="1300" b="0">
                <a:solidFill>
                  <a:srgbClr val="75816F"/>
                </a:solidFill>
                <a:latin typeface="Montserrat"/>
              </a:defRPr>
            </a:pPr>
            <a:r>
              <a:t>время, с кем, чего хочется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697480"/>
            <a:ext cx="2578608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2880360"/>
            <a:ext cx="457200" cy="347472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2958084"/>
            <a:ext cx="274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23F31"/>
                </a:solidFill>
                <a:latin typeface="Montserrat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5204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23F31"/>
                </a:solidFill>
                <a:latin typeface="Montserrat"/>
              </a:defRPr>
            </a:pPr>
            <a:r>
              <a:t>Отобрать кодом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2519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5816F"/>
                </a:solidFill>
                <a:latin typeface="Montserrat"/>
              </a:defRPr>
            </a:pPr>
            <a:r>
              <a:t>Граф улиц, часы при приходе,</a:t>
            </a:r>
          </a:p>
          <a:p>
            <a:pPr>
              <a:spcAft>
                <a:spcPts val="700"/>
              </a:spcAft>
              <a:defRPr sz="1300" b="0">
                <a:solidFill>
                  <a:srgbClr val="75816F"/>
                </a:solidFill>
                <a:latin typeface="Montserrat"/>
              </a:defRPr>
            </a:pPr>
            <a:r>
              <a:t>погода и ограничения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697480"/>
            <a:ext cx="2578608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2880360"/>
            <a:ext cx="457200" cy="347472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958084"/>
            <a:ext cx="274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23F31"/>
                </a:solidFill>
                <a:latin typeface="Montserrat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204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23F31"/>
                </a:solidFill>
                <a:latin typeface="Montserrat"/>
              </a:defRPr>
            </a:pPr>
            <a:r>
              <a:t>Найти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519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5816F"/>
                </a:solidFill>
                <a:latin typeface="Montserrat"/>
              </a:defRPr>
            </a:pPr>
            <a:r>
              <a:t>BM25 + multilingual-e5,</a:t>
            </a:r>
          </a:p>
          <a:p>
            <a:pPr>
              <a:spcAft>
                <a:spcPts val="700"/>
              </a:spcAft>
              <a:defRPr sz="1300" b="0">
                <a:solidFill>
                  <a:srgbClr val="75816F"/>
                </a:solidFill>
                <a:latin typeface="Montserrat"/>
              </a:defRPr>
            </a:pPr>
            <a:r>
              <a:t>RRF → 10 кандидатов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2697480"/>
            <a:ext cx="2578608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35440" y="2880360"/>
            <a:ext cx="457200" cy="347472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7" y="2958084"/>
            <a:ext cx="274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23F31"/>
                </a:solidFill>
                <a:latin typeface="Montserrat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5204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23F31"/>
                </a:solidFill>
                <a:latin typeface="Montserrat"/>
              </a:defRPr>
            </a:pPr>
            <a:r>
              <a:t>Выбрать и объяснить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2519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5816F"/>
                </a:solidFill>
                <a:latin typeface="Montserrat"/>
              </a:defRPr>
            </a:pPr>
            <a:r>
              <a:t>gpt-6-luna: 1–3 места,</a:t>
            </a:r>
          </a:p>
          <a:p>
            <a:pPr>
              <a:spcAft>
                <a:spcPts val="700"/>
              </a:spcAft>
              <a:defRPr sz="1300" b="0">
                <a:solidFill>
                  <a:srgbClr val="75816F"/>
                </a:solidFill>
                <a:latin typeface="Montserrat"/>
              </a:defRPr>
            </a:pPr>
            <a:r>
              <a:t>почему и план визита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7150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3F31"/>
                </a:solidFill>
                <a:latin typeface="Montserrat"/>
              </a:defRPr>
            </a:pPr>
            <a:r>
              <a:t>Валидатор: только места из кандидатов, без выдуманных часов и цен; иначе — шаблон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"/>
            <a:ext cx="219456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" y="3108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3F31"/>
                </a:solidFill>
                <a:latin typeface="Montserrat"/>
              </a:defRPr>
            </a:pPr>
            <a:r>
              <a:t>SeruendeshAI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918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5816F"/>
                </a:solidFill>
                <a:latin typeface="Montserrat"/>
              </a:defRPr>
            </a:pPr>
            <a:r>
              <a:t>08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5816F"/>
                </a:solidFill>
                <a:latin typeface="Montserrat"/>
              </a:defRPr>
            </a:pPr>
            <a:r>
              <a:t>07 ·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123F31"/>
                </a:solidFill>
                <a:latin typeface="Montserrat"/>
              </a:defRPr>
            </a:pPr>
            <a:r>
              <a:t>Собраны автоматически. Только Астана.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578608" cy="1554480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5059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123F31"/>
                </a:solidFill>
                <a:latin typeface="Montserrat"/>
              </a:defRPr>
            </a:pPr>
            <a:r>
              <a:t>2268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1546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мест в Астане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286000"/>
            <a:ext cx="2578608" cy="1554480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245059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123F31"/>
                </a:solidFill>
                <a:latin typeface="Montserrat"/>
              </a:defRPr>
            </a:pPr>
            <a:r>
              <a:t>466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31546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часы работы с источником</a:t>
            </a:r>
          </a:p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(20,5% мест, доля растёт)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86000"/>
            <a:ext cx="2578608" cy="1554480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5059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123F31"/>
                </a:solidFill>
                <a:latin typeface="Montserrat"/>
              </a:defRPr>
            </a:pPr>
            <a:r>
              <a:t>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1546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событий</a:t>
            </a:r>
          </a:p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(Ticketon, Sxodim)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2286000"/>
            <a:ext cx="2578608" cy="1554480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3728" y="245059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123F31"/>
                </a:solidFill>
                <a:latin typeface="Montserrat"/>
              </a:defRPr>
            </a:pPr>
            <a:r>
              <a:t>150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728" y="31546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частых мест проверены</a:t>
            </a:r>
          </a:p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по источникам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41648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3F31"/>
                </a:solidFill>
                <a:latin typeface="Montserrat"/>
              </a:defRPr>
            </a:pPr>
            <a:r>
              <a:t>Места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34256"/>
            <a:ext cx="5440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50" b="0">
                <a:solidFill>
                  <a:srgbClr val="75816F"/>
                </a:solidFill>
                <a:latin typeface="Montserrat"/>
              </a:defRPr>
            </a:pPr>
            <a:r>
              <a:t>OpenStreetMap, Overture, Wikidata, Википедия — make data; раз в неделю заново и PR на проверку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041648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3F31"/>
                </a:solidFill>
                <a:latin typeface="Montserrat"/>
              </a:defRPr>
            </a:pPr>
            <a:r>
              <a:t>Часы — только открытые и официальные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334256"/>
            <a:ext cx="5440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50" b="0">
                <a:solidFill>
                  <a:srgbClr val="75816F"/>
                </a:solidFill>
                <a:latin typeface="Montserrat"/>
              </a:defRPr>
            </a:pPr>
            <a:r>
              <a:t>OSM, сайты мест и сетей, CityPass, официальные порталы; у каждого — источник и дата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9204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3F31"/>
                </a:solidFill>
                <a:latin typeface="Montserrat"/>
              </a:defRPr>
            </a:pPr>
            <a:r>
              <a:t>События и погода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84648"/>
            <a:ext cx="5440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50" b="0">
                <a:solidFill>
                  <a:srgbClr val="75816F"/>
                </a:solidFill>
                <a:latin typeface="Montserrat"/>
              </a:defRPr>
            </a:pPr>
            <a:r>
              <a:t>Афиша — Ticketon и Sxodim; погода и воздух — Open-Meteo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89204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3F31"/>
                </a:solidFill>
                <a:latin typeface="Montserrat"/>
              </a:defRPr>
            </a:pPr>
            <a:r>
              <a:t>2ГИС сознательно не используем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184648"/>
            <a:ext cx="5440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50" b="0">
                <a:solidFill>
                  <a:srgbClr val="75816F"/>
                </a:solidFill>
                <a:latin typeface="Montserrat"/>
              </a:defRPr>
            </a:pPr>
            <a:r>
              <a:t>Лицензия запрещает извлекать и хранить их данные; на карточке — «Открыть в 2ГИС»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42432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3F31"/>
                </a:solidFill>
                <a:latin typeface="Montserrat"/>
              </a:defRPr>
            </a:pPr>
            <a:r>
              <a:t>Нет данных — так и пишем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035040"/>
            <a:ext cx="5440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50" b="0">
                <a:solidFill>
                  <a:srgbClr val="75816F"/>
                </a:solidFill>
                <a:latin typeface="Montserrat"/>
              </a:defRPr>
            </a:pPr>
            <a:r>
              <a:t>«Часы неизвестны» вместо догадки; рейтинги не показываем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742432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3F31"/>
                </a:solidFill>
                <a:latin typeface="Montserrat"/>
              </a:defRPr>
            </a:pPr>
            <a:r>
              <a:t>Фото со ссылкой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6035040"/>
            <a:ext cx="5440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50" b="0">
                <a:solidFill>
                  <a:srgbClr val="75816F"/>
                </a:solidFill>
                <a:latin typeface="Montserrat"/>
              </a:defRPr>
            </a:pPr>
            <a:r>
              <a:t>Commons или сайт заведения, проверены ИИ-зрением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"/>
            <a:ext cx="219456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" y="3108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3F31"/>
                </a:solidFill>
                <a:latin typeface="Montserrat"/>
              </a:defRPr>
            </a:pPr>
            <a:r>
              <a:t>SeruendeshAI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918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5816F"/>
                </a:solidFill>
                <a:latin typeface="Montserrat"/>
              </a:defRPr>
            </a:pPr>
            <a:r>
              <a:t>09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5816F"/>
                </a:solidFill>
                <a:latin typeface="Montserrat"/>
              </a:defRPr>
            </a:pPr>
            <a:r>
              <a:t>08 · ДОВЕРИЕ И ПРИВАТНОСТЬ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123F31"/>
                </a:solidFill>
                <a:latin typeface="Montserrat"/>
              </a:defRPr>
            </a:pPr>
            <a:r>
              <a:t>Полезный ответ показывает свои границы.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1325880" cy="347472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18004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23F31"/>
                </a:solidFill>
                <a:latin typeface="Montserrat"/>
              </a:defRPr>
            </a:pPr>
            <a:r>
              <a:t>Доверие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1635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3F31"/>
                </a:solidFill>
                <a:latin typeface="Montserrat"/>
              </a:defRPr>
            </a:pPr>
            <a:r>
              <a:t>Источник и дата рядом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45536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Часы, описание и фото — со ссылкой; «туда + на месте = … из … мин» на каждой карточке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78224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3F31"/>
                </a:solidFill>
                <a:latin typeface="Montserrat"/>
              </a:defRPr>
            </a:pPr>
            <a:r>
              <a:t>Неизвестное видно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07408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«Часы неизвестны», «идея ИИ»; в праздники РК уверенность в часах ниже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40096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3F31"/>
                </a:solidFill>
                <a:latin typeface="Montserrat"/>
              </a:defRPr>
            </a:pPr>
            <a:r>
              <a:t>Отметки посетителей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«Было закрыто» только снижает доверие к часам; «понравилось» его не повышает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240280"/>
            <a:ext cx="1325880" cy="347472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2318004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23F31"/>
                </a:solidFill>
                <a:latin typeface="Montserrat"/>
              </a:defRPr>
            </a:pPr>
            <a:r>
              <a:t>Приватность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1635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3F31"/>
                </a:solidFill>
                <a:latin typeface="Montserrat"/>
              </a:defRPr>
            </a:pPr>
            <a:r>
              <a:t>Локация ~100 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145536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Геолокацию спрашиваем только после запроса; округляем и в ИИ не отправляем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078224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3F31"/>
                </a:solidFill>
                <a:latin typeface="Montserrat"/>
              </a:defRPr>
            </a:pPr>
            <a:r>
              <a:t>До ИИ — без лишнего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407408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Координаты, номера домов, телефоны маскируются; адрес старта — геокодеру, не 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340096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3F31"/>
                </a:solidFill>
                <a:latin typeface="Montserrat"/>
              </a:defRPr>
            </a:pPr>
            <a:r>
              <a:t>Голос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66928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На сайте — речевой сервис браузера (Chrome отправляет звук в Google); голосовые в Telegram расшифровывает OpenAI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2240280"/>
            <a:ext cx="3017520" cy="33924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lace-detai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2290572"/>
            <a:ext cx="29260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6344" y="256032"/>
            <a:ext cx="292608" cy="384048"/>
          </a:xfrm>
          <a:prstGeom prst="roundRect">
            <a:avLst>
              <a:gd name="adj" fmla="val 12000"/>
            </a:avLst>
          </a:prstGeom>
          <a:solidFill>
            <a:srgbClr val="FA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"/>
            <a:ext cx="21945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" y="3108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SeruendeshAI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2918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D1E884"/>
                </a:solidFill>
                <a:latin typeface="Montserrat"/>
              </a:defRPr>
            </a:pPr>
            <a:r>
              <a:t>10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D1E884"/>
                </a:solidFill>
                <a:latin typeface="Montserrat"/>
              </a:defRPr>
            </a:pPr>
            <a:r>
              <a:t>09 · ДЛЯ ГОРОДА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Montserrat"/>
              </a:defRPr>
            </a:pPr>
            <a:r>
              <a:t>Карта спроса для акимата — без личных данных.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667512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sigh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8132" y="2313432"/>
            <a:ext cx="4136136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35240" y="23774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Что ищут, где и когда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779776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D1E884"/>
                </a:solidFill>
                <a:latin typeface="Montserrat"/>
              </a:defRPr>
            </a:pPr>
            <a:r>
              <a:t>Темы, районы ≈1 км, время суток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40156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Где город не отвечает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803904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D1E884"/>
                </a:solidFill>
                <a:latin typeface="Montserrat"/>
              </a:defRPr>
            </a:pPr>
            <a:r>
              <a:t>Рядом нет подходящего или всё закрыто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425696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k-анонимно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82803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D1E884"/>
                </a:solidFill>
                <a:latin typeface="Montserrat"/>
              </a:defRPr>
            </a:pPr>
            <a:r>
              <a:t>Только счётчики, значения от 5 запросов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5449824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Открытые данные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58521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D1E884"/>
                </a:solidFill>
                <a:latin typeface="Montserrat"/>
              </a:defRPr>
            </a:pPr>
            <a:r>
              <a:t>JSON для городских дашбордов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"/>
            <a:ext cx="219456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" y="3108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3F31"/>
                </a:solidFill>
                <a:latin typeface="Montserrat"/>
              </a:defRPr>
            </a:pPr>
            <a:r>
              <a:t>SeruendeshAI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918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5816F"/>
                </a:solidFill>
                <a:latin typeface="Montserrat"/>
              </a:defRPr>
            </a:pPr>
            <a:r>
              <a:t>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5816F"/>
                </a:solidFill>
                <a:latin typeface="Montserrat"/>
              </a:defRPr>
            </a:pPr>
            <a:r>
              <a:t>10 · ПРОВЕРКА КАЧЕСТВА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123F31"/>
                </a:solidFill>
                <a:latin typeface="Montserrat"/>
              </a:defRPr>
            </a:pPr>
            <a:r>
              <a:t>Проверяем сценарии, а не обещания.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2578608" cy="1920240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74320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600" b="1">
                <a:solidFill>
                  <a:srgbClr val="123F31"/>
                </a:solidFill>
                <a:latin typeface="Montserrat"/>
              </a:defRPr>
            </a:pPr>
            <a:r>
              <a:t>170/170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61188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проверок на 15 сценариях</a:t>
            </a:r>
          </a:p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(продакшен, 19.10)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514600"/>
            <a:ext cx="2578608" cy="1920240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274320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600" b="1">
                <a:solidFill>
                  <a:srgbClr val="123F31"/>
                </a:solidFill>
                <a:latin typeface="Montserrat"/>
              </a:defRPr>
            </a:pPr>
            <a:r>
              <a:t>4,4 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361188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медиана ответа</a:t>
            </a:r>
          </a:p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(продакшен, 19.10)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14600"/>
            <a:ext cx="2578608" cy="1920240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4320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600" b="1">
                <a:solidFill>
                  <a:srgbClr val="123F31"/>
                </a:solidFill>
                <a:latin typeface="Montserrat"/>
              </a:defRPr>
            </a:pPr>
            <a:r>
              <a:t>~1 340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61188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автотестов в CI</a:t>
            </a:r>
          </a:p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на каждый push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2514600"/>
            <a:ext cx="2578608" cy="1920240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3728" y="274320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600" b="1">
                <a:solidFill>
                  <a:srgbClr val="123F31"/>
                </a:solidFill>
                <a:latin typeface="Montserrat"/>
              </a:defRPr>
            </a:pPr>
            <a:r>
              <a:t>20/23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728" y="361188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ответов без</a:t>
            </a:r>
          </a:p>
          <a:p>
            <a:pPr>
              <a:spcAft>
                <a:spcPts val="700"/>
              </a:spcAft>
              <a:defRPr sz="1200" b="0">
                <a:solidFill>
                  <a:srgbClr val="75816F"/>
                </a:solidFill>
                <a:latin typeface="Montserrat"/>
              </a:defRPr>
            </a:pPr>
            <a:r>
              <a:t>неподтверждённых фактов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663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5816F"/>
                </a:solidFill>
                <a:latin typeface="Montserrat"/>
              </a:defRPr>
            </a:pPr>
            <a:r>
              <a:t>Автотесты: бэкенд 559 · данные 361 · QA 374 · поиск 7 · бот 12 · фронтенд 17 + 12 в браузере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257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23F31"/>
                </a:solidFill>
                <a:latin typeface="Montserrat"/>
              </a:defRPr>
            </a:pPr>
            <a:r>
              <a:t>Что дальше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150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75816F"/>
                </a:solidFill>
                <a:latin typeface="Montserrat"/>
              </a:defRPr>
            </a:pPr>
            <a:r>
              <a:t>Проверка полезности на реальных прогулках и больше часов работы из официальных источников.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"/>
            <a:ext cx="219456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" y="3108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3F31"/>
                </a:solidFill>
                <a:latin typeface="Montserrat"/>
              </a:defRPr>
            </a:pPr>
            <a:r>
              <a:t>SeruendeshAI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918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5816F"/>
                </a:solidFill>
                <a:latin typeface="Montserrat"/>
              </a:defRPr>
            </a:pPr>
            <a:r>
              <a:t>12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5816F"/>
                </a:solidFill>
                <a:latin typeface="Montserrat"/>
              </a:defRPr>
            </a:pPr>
            <a:r>
              <a:t>11 · ОГРАНИЧЕНИЯ И РИСКИ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123F31"/>
                </a:solidFill>
                <a:latin typeface="Montserrat"/>
              </a:defRPr>
            </a:pPr>
            <a:r>
              <a:t>Что может пойти не так — и что мы делаем.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110642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3F31"/>
                </a:solidFill>
                <a:latin typeface="Montserrat"/>
              </a:defRPr>
            </a:pPr>
            <a:r>
              <a:t>Данные неполные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53288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5816F"/>
                </a:solidFill>
                <a:latin typeface="Montserrat"/>
              </a:defRPr>
            </a:pPr>
            <a:r>
              <a:t>часы работы с источником: 466 мест (20,5%); у остальных — «часы неизвестны»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36392"/>
            <a:ext cx="110642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5584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3F31"/>
                </a:solidFill>
                <a:latin typeface="Montserrat"/>
              </a:defRPr>
            </a:pPr>
            <a:r>
              <a:t>Часы меняются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3832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5816F"/>
                </a:solidFill>
                <a:latin typeface="Montserrat"/>
              </a:defRPr>
            </a:pPr>
            <a:r>
              <a:t>у часов — источник и дата; праздники РК и «было закрыто» снижают доверие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86784"/>
            <a:ext cx="110642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062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3F31"/>
                </a:solidFill>
                <a:latin typeface="Montserrat"/>
              </a:defRPr>
            </a:pPr>
            <a:r>
              <a:t>ИИ может ошибиться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233672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5816F"/>
                </a:solidFill>
                <a:latin typeface="Montserrat"/>
              </a:defRPr>
            </a:pPr>
            <a:r>
              <a:t>валидатор, честный шаблон и метка «идея ИИ»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37176"/>
            <a:ext cx="110642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5663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3F31"/>
                </a:solidFill>
                <a:latin typeface="Montserrat"/>
              </a:defRPr>
            </a:pPr>
            <a:r>
              <a:t>Приватность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084064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5816F"/>
                </a:solidFill>
                <a:latin typeface="Montserrat"/>
              </a:defRPr>
            </a:pPr>
            <a:r>
              <a:t>локация ~100 м и не уходит в ИИ; аналитика только k-анонимная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687568"/>
            <a:ext cx="110642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1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90702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3F31"/>
                </a:solidFill>
                <a:latin typeface="Montserrat"/>
              </a:defRPr>
            </a:pPr>
            <a:r>
              <a:t>Лицензии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934456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5816F"/>
                </a:solidFill>
                <a:latin typeface="Montserrat"/>
              </a:defRPr>
            </a:pPr>
            <a:r>
              <a:t>только открытые и официальные источники; данные 2ГИС и Google не используем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"/>
            <a:ext cx="219456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2104" y="3108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3F31"/>
                </a:solidFill>
                <a:latin typeface="Montserrat"/>
              </a:defRPr>
            </a:pPr>
            <a:r>
              <a:t>SeruendeshAI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918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5816F"/>
                </a:solidFill>
                <a:latin typeface="Montserrat"/>
              </a:defRPr>
            </a:pPr>
            <a:r>
              <a:t>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5816F"/>
                </a:solidFill>
                <a:latin typeface="Montserrat"/>
              </a:defRPr>
            </a:pPr>
            <a:r>
              <a:t>12 · БИЗНЕС И РАЗВИТИЕ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123F31"/>
                </a:solidFill>
                <a:latin typeface="Montserrat"/>
              </a:defRPr>
            </a:pPr>
            <a:r>
              <a:t>Модуль для умного города.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23F31"/>
                </a:solidFill>
                <a:latin typeface="Montserrat"/>
              </a:defRPr>
            </a:pPr>
            <a:r>
              <a:t>B2G white-label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79776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75816F"/>
                </a:solidFill>
                <a:latin typeface="Montserrat"/>
              </a:defRPr>
            </a:pPr>
            <a:r>
              <a:t>Smart Astana, Visit Astana, киоски аэропорта NQZ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23F31"/>
                </a:solidFill>
                <a:latin typeface="Montserrat"/>
              </a:defRPr>
            </a:pPr>
            <a:r>
              <a:t>Аналитика для акимата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68496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75816F"/>
                </a:solidFill>
                <a:latin typeface="Montserrat"/>
              </a:defRPr>
            </a:pPr>
            <a:r>
              <a:t>«Для города»: спрос и пробелы по районам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23F31"/>
                </a:solidFill>
                <a:latin typeface="Montserrat"/>
              </a:defRPr>
            </a:pPr>
            <a:r>
              <a:t>Партнёры-заведения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57216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75816F"/>
                </a:solidFill>
                <a:latin typeface="Montserrat"/>
              </a:defRPr>
            </a:pPr>
            <a:r>
              <a:t>Сами обновляют часы и фото; реклама помечена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331720"/>
            <a:ext cx="4937760" cy="3931920"/>
          </a:xfrm>
          <a:prstGeom prst="roundRect">
            <a:avLst>
              <a:gd name="adj" fmla="val 12000"/>
            </a:avLst>
          </a:prstGeom>
          <a:solidFill>
            <a:srgbClr val="EF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56032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23F31"/>
                </a:solidFill>
                <a:latin typeface="Montserrat"/>
              </a:defRPr>
            </a:pPr>
            <a:r>
              <a:t>План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1546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3F31"/>
                </a:solidFill>
                <a:latin typeface="Montserrat"/>
              </a:defRPr>
            </a:pPr>
            <a:r>
              <a:t>Пилот 1–2 мес.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5204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5816F"/>
                </a:solidFill>
                <a:latin typeface="Montserrat"/>
              </a:defRPr>
            </a:pPr>
            <a:r>
              <a:t>реальные прогулки, данные НИЦ о часах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1148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3F31"/>
                </a:solidFill>
                <a:latin typeface="Montserrat"/>
              </a:defRPr>
            </a:pPr>
            <a:r>
              <a:t>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4805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5816F"/>
                </a:solidFill>
                <a:latin typeface="Montserrat"/>
              </a:defRPr>
            </a:pPr>
            <a:r>
              <a:t>групповой режим, микро-квесты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50749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3F31"/>
                </a:solidFill>
                <a:latin typeface="Montserrat"/>
              </a:defRPr>
            </a:pPr>
            <a:r>
              <a:t>v3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4406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75816F"/>
                </a:solidFill>
                <a:latin typeface="Montserrat"/>
              </a:defRPr>
            </a:pPr>
            <a:r>
              <a:t>киоски, офлайн для туристов, API для НИЦ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6344" y="256032"/>
            <a:ext cx="292608" cy="384048"/>
          </a:xfrm>
          <a:prstGeom prst="roundRect">
            <a:avLst>
              <a:gd name="adj" fmla="val 12000"/>
            </a:avLst>
          </a:prstGeom>
          <a:solidFill>
            <a:srgbClr val="FAF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"/>
            <a:ext cx="21945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" y="3108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SeruendeshAI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2918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D1E884"/>
                </a:solidFill>
                <a:latin typeface="Montserrat"/>
              </a:defRPr>
            </a:pPr>
            <a:r>
              <a:t>14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D1E884"/>
                </a:solidFill>
                <a:latin typeface="Montserrat"/>
              </a:defRPr>
            </a:pPr>
            <a:r>
              <a:t>13 · ПРИГЛАШЕНИЕ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81381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4300" b="1">
                <a:solidFill>
                  <a:srgbClr val="FFFFFF"/>
                </a:solidFill>
                <a:latin typeface="Montserrat"/>
              </a:defRPr>
            </a:pPr>
            <a:r>
              <a:t>Меньше планирования.</a:t>
            </a:r>
          </a:p>
          <a:p>
            <a:pPr>
              <a:spcAft>
                <a:spcPts val="700"/>
              </a:spcAft>
              <a:defRPr sz="4300" b="1">
                <a:solidFill>
                  <a:srgbClr val="FFFFFF"/>
                </a:solidFill>
                <a:latin typeface="Montserrat"/>
              </a:defRPr>
            </a:pPr>
            <a:r>
              <a:t>Больше открытий.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657600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D1E884"/>
                </a:solidFill>
                <a:latin typeface="Montserrat"/>
              </a:defRPr>
            </a:pPr>
            <a:r>
              <a:t>Твоя следующая прогулка начинается здесь.</a:t>
            </a:r>
          </a:p>
        </p:txBody>
      </p:sp>
      <p:sp>
        <p:nvSpPr>
          <p:cNvPr id="9" name="Rounded Rectangle 8">
            <a:hlinkClick r:id="rId4"/>
          </p:cNvPr>
          <p:cNvSpPr/>
          <p:nvPr/>
        </p:nvSpPr>
        <p:spPr>
          <a:xfrm>
            <a:off x="621792" y="4617720"/>
            <a:ext cx="5212080" cy="822960"/>
          </a:xfrm>
          <a:prstGeom prst="roundRect">
            <a:avLst>
              <a:gd name="adj" fmla="val 12000"/>
            </a:avLst>
          </a:prstGeom>
          <a:solidFill>
            <a:srgbClr val="D1E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2803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3F31"/>
                </a:solidFill>
                <a:latin typeface="Montserrat"/>
              </a:defRPr>
            </a:pPr>
            <a:r>
              <a:rPr u="none">
                <a:solidFill>
                  <a:srgbClr val="123F31"/>
                </a:solidFill>
                <a:hlinkClick r:id="rId4"/>
              </a:rPr>
              <a:t>seruendesh.site 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D1E884"/>
                </a:solidFill>
                <a:latin typeface="Montserrat"/>
              </a:defRPr>
            </a:pPr>
            <a:r>
              <a:t>Telegram: @SeruendeshAl_bot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508760"/>
            <a:ext cx="2651760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1392" y="1673352"/>
            <a:ext cx="2322576" cy="2322576"/>
          </a:xfrm>
          <a:prstGeom prst="rect">
            <a:avLst/>
          </a:prstGeom>
        </p:spPr>
      </p:pic>
      <p:pic>
        <p:nvPicPr>
          <p:cNvPr id="14" name="Picture 13" descr="seru-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4861" y="4023360"/>
            <a:ext cx="2464157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23F31"/>
      </a:hlink>
      <a:folHlink>
        <a:srgbClr val="123F3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23F31"/>
      </a:hlink>
      <a:folHlink>
        <a:srgbClr val="123F3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