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0:00–0:15. Свободный час в Астане — куда пойти, что успеть и как дойти. SeruendeshAI отвечает 1–3 конкретными местами: почему подходят, сколько там провести и что делать. Всё, что покажем, работает на seruendesh.site.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0:15–0:35. Карты дают сотни точек, но не отвечают на главное: успею ли я, будет ли открыто, когда дойду, подходит ли это мне сейчас — с ребёнком, в мороз, перед рейсом.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0:35–0:55. Чат слева, карта справа. Пишешь желание своими словами — получаешь места, маршрут по улицам и следующую остановку. Можно уточнить: ближе, без кофе, в помещении.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0:55–1:25. Пример прямо из задания — «Я у здания Экспо, хочу что-то необычное на 1–2 часа, пешком». Это реальный ответ продакшена: расстояние и минуты посчитал код по графу улиц, часы — с источником, а план визита написал ИИ по проверенным фактам о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1:25–2:00. Второй сценарий из задания — «Я турист, у меня 2 часа перед вылетом». Эти два часа Серу считает свободным временем до аэропорта: в 14:00 у Байтерека быть в аэропорту нужно к 15:45, с запасом 15 минут на дорогу. На карточке — «Выйти до 15:10»: такси до аэропорта уже учтено, и строка «2 туда + 30 на месте + 35 обратно = 67 из 105 мин». И напоминание: если это время до самого вылета — лучше ехать сразу, на регистрацию нужно 2–3 часа. Так же кодом: часы на момент прихода, праздники, погода, смог, темнота, дети.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2:00–2:25. Кнопка «Маршруты» собирает тематические прогулки от тебя: символы столицы, парки, музеи, кофе, вечер, с ребёнком — каждый с проверкой часов. «Начать прогулку» открывает весь маршрут в 2GIS или Google Картах. Фото «где я?», голос, три языка до названий мест. С телефона — как приложение, прогулка доступна без сети; в Telegram — тот же Серу. И MCP: Серу как инструмент для ИИ-агентов.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2:25–2:50. Запрос разбирают правила и gpt-6-luna. Код отбирает достижимые и открытые места, поиск BM25 + multilingual-e5 через RRF даёт 10 кандидатов. gpt-6-luna выбирает 1–3 и объясняет; валидатор пропускает только места из кандидатов и вырезает выдуманные часы и цены. Без ключа OpenAI — честный шаблонный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2:50–3:15. Датасет собирается автоматически: make data качает OpenStreetMap, Overture, Wikidata и Википедию, события — Ticketon и Sxodim, погода — Open-Meteo; раз в неделю GitHub Actions собирает заново и открывает PR. Часы работы — только с источником: OSM, сайты мест и сетей, CityPass, официальные порталы и афиша Sxodim со ссылкой на карточку; у каждого источник и дата, старые карточки идут с низкой уверенностью; сейчас это 600 мест. Нет данных — пишем «часы неизвестны», не угадываем. 2ГИС сознательно не используем: лицензия запрещает извлекать и хранить их данные; на карточке есть кнопка «Открыть в 2ГИС». Рейтинги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3:15–3:40. У каждого факта — источник и дата, на карточке — «туда + на месте = … из … мин». Неизвестные часы так и подписаны; в праздники уверенность ниже, а отметки посетителей «было закрыто» могут только снизить доверие. Приватность: геолокацию спрашиваем только после запроса, округляем до ~100 м и в ИИ не отправляем; координаты, номера домов и телефоны маскируются, адрес старта идёт в геокодер, а не в ИИ. Голос на сайте распознаёт браузер — Chrome отправляет звук в Google; в Telegram голосовые расшифровывает OpenAI.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3:40–4:00. Зачем это городу: страница «Для города» показывает, что ищут жители и гости, где и когда, и где город не отвечает — рядом ничего нет или всё закрыто. Хранятся только счётчики: ячейка около километра, интервал три часа, значение видно от пяти запросов. Открытые агрегаты в JSON — для дашбордов НИЦ.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4:00–4:20. На продакшене 19.10: 170 из 170 автоматических проверок на 15 сценариях, включая официальные; медиана ответа 4,4 секунды. Около 1 500 автотестов в CI на каждый push — бэкенд, данные, QA, поиск, бот и фронтенд. Нейтральный ИИ-судья: 20 из 23 ответов без неподтверждённых утверждений. Следующий шаг — проверка на реальных прогулках.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4:20–4:35. Честно: часов работы в открытых данных мало — с источником 600 мест, у остальных пишем «часы неизвестны». Часы меняются — дата у каждого источника, праздники и отметки посетителей снижают уверенность. ИИ может ошибиться — валидатор и метка «идея ИИ». Лицензии — открытые и официальные источники, Sxodim по его условиям со ссылкой на карточку; данные 2ГИС не используем.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4:35–4:50. Модель — B2G white-label для городских сервисов: Smart Astana, Visit Astana, киоски аэропорта; плюс аналитика спроса для акимата. Заведения могут сами держать часы и фото актуальными. Это план, а не заключённые партнёрства: сначала пилот на реальных прогулках.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4:50–5:00. SeruendeshAI превращает свободное время в понятную прогулку по Астане. Попробуйте сами — QR ведёт на seruendesh.site, бот — @SeruendeshAl_bot.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Relationship Id="rId4" Type="http://schemas.openxmlformats.org/officeDocument/2006/relationships/hyperlink" Target="https://seruendesh.site" TargetMode="External"/><Relationship Id="rId5" Type="http://schemas.openxmlformats.org/officeDocument/2006/relationships/image" Target="../media/image10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AI-КОМПАНЬОН ДЛЯ ПРОГУЛОК ПО АСТАНЕ</a:t>
            </a:r>
          </a:p>
        </p:txBody>
      </p:sp>
      <p:pic>
        <p:nvPicPr>
          <p:cNvPr id="6" name="Picture 5" descr="friends-golden.png"/>
          <p:cNvPicPr>
            <a:picLocks noChangeAspect="1"/>
          </p:cNvPicPr>
          <p:nvPr/>
        </p:nvPicPr>
        <p:blipFill>
          <a:blip r:embed="rId4"/>
          <a:srcRect l="20657" r="20657"/>
          <a:stretch>
            <a:fillRect/>
          </a:stretch>
        </p:blipFill>
        <p:spPr>
          <a:xfrm>
            <a:off x="6080760" y="914400"/>
            <a:ext cx="5577840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44768" y="632764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5816F"/>
                </a:solidFill>
                <a:latin typeface="Montserrat"/>
              </a:defRPr>
            </a:pPr>
            <a:r>
              <a:t>ИИ-иллюстрация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5486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4400" b="1">
                <a:solidFill>
                  <a:srgbClr val="123F31"/>
                </a:solidFill>
                <a:latin typeface="Montserrat"/>
              </a:defRPr>
            </a:pPr>
            <a:r>
              <a:t>Свободный час.</a:t>
            </a:r>
          </a:p>
          <a:p>
            <a:pPr>
              <a:spcAft>
                <a:spcPts val="700"/>
              </a:spcAft>
              <a:defRPr sz="4400" b="1">
                <a:solidFill>
                  <a:srgbClr val="123F31"/>
                </a:solidFill>
                <a:latin typeface="Montserrat"/>
              </a:defRPr>
            </a:pPr>
            <a:r>
              <a:t>Своя Астана.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747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75816F"/>
                </a:solidFill>
                <a:latin typeface="Montserrat"/>
              </a:defRPr>
            </a:pPr>
            <a:r>
              <a:t>Прогулка, которая начинается</a:t>
            </a:r>
          </a:p>
          <a:p>
            <a:pPr>
              <a:spcAft>
                <a:spcPts val="700"/>
              </a:spcAft>
              <a:defRPr sz="2200" b="0">
                <a:solidFill>
                  <a:srgbClr val="75816F"/>
                </a:solidFill>
                <a:latin typeface="Montserrat"/>
              </a:defRPr>
            </a:pPr>
            <a:r>
              <a:t>с твоего желания.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" y="4617720"/>
            <a:ext cx="1874519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695444"/>
            <a:ext cx="169163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30 / 60 / 120 минут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4617720"/>
            <a:ext cx="1600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5768" y="4695444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RU · ҚАЗ · EN</a:t>
            </a:r>
          </a:p>
        </p:txBody>
      </p:sp>
      <p:pic>
        <p:nvPicPr>
          <p:cNvPr id="14" name="Picture 13" descr="ser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405" y="4206240"/>
            <a:ext cx="2332149" cy="24231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01 · 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Иногда сложнее выбрать,</a:t>
            </a:r>
          </a:p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чем просто выйти.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9808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Есть только час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Нужно учесть дорогу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 время на месте.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17136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Хочется по настроению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Кофе, тишина, прогулка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или время с ребёнком.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4464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Город незнаком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Где начать, что рядом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 куда идти дальше?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02 · ПРОДУКТ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Один экран. Понятный следующий шаг.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873252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sktop-w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811" y="2395728"/>
            <a:ext cx="7250176" cy="4078224"/>
          </a:xfrm>
          <a:prstGeom prst="rect">
            <a:avLst/>
          </a:prstGeom>
        </p:spPr>
      </p:pic>
      <p:pic>
        <p:nvPicPr>
          <p:cNvPr id="9" name="Picture 8" descr="seru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8943" y="3840480"/>
            <a:ext cx="2376152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64040" y="256032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Запрос.</a:t>
            </a:r>
          </a:p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Выбор.</a:t>
            </a:r>
          </a:p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Прогулка.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03 · ОТВЕТ ПО ФОРМАТУ ЗАДАНИЯ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1–3 места: почему, сколько времени, что делать.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7406640" cy="82296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70408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23F31"/>
                </a:solidFill>
                <a:latin typeface="Montserrat"/>
              </a:defRPr>
            </a:pPr>
            <a:r>
              <a:t>«Я у здания Экспо 2017, хочу что-то необычное</a:t>
            </a:r>
          </a:p>
          <a:p>
            <a:pPr>
              <a:spcAft>
                <a:spcPts val="700"/>
              </a:spcAft>
              <a:defRPr sz="1400" b="1">
                <a:solidFill>
                  <a:srgbClr val="123F31"/>
                </a:solidFill>
                <a:latin typeface="Montserrat"/>
              </a:defRPr>
            </a:pPr>
            <a:r>
              <a:t>на 1–2 часа, пешком»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7406640" cy="1719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8269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Nur Alem Museum of Future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75816F"/>
                </a:solidFill>
                <a:latin typeface="Montserrat"/>
              </a:defRPr>
            </a:pPr>
            <a:r>
              <a:t>980 м · 14 мин пешком · 40–75 мин на месте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0448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Почему: Сфера бывшего павильона Казахстана — уже необычный ориентир, а внутри музей с экспозициями об энергии космоса, солнца и ветра.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6168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Что делать: Сначала осмотрите этажи с экспозициями об энергии, затем задержитесь у самой сферы и выберите для продолжения прогулки Тәуелсіздіктің 25 жылдығы.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37760"/>
            <a:ext cx="7406640" cy="1719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6577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25-ти летие Независимости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9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75816F"/>
                </a:solidFill>
                <a:latin typeface="Montserrat"/>
              </a:defRPr>
            </a:pPr>
            <a:r>
              <a:t>930 м · 13 мин пешком · 15–30 мин на месте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8756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Почему: Эта стела высотой около 70 метров стоит на территории ЭКСПО; её 25 граней символизируют годы независимости.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Что делать: Обойдите стелу, рассмотрите её грани и сделайте снимок снизу вверх; затем можно вернуться к сфере Nur Alem.</a:t>
            </a:r>
          </a:p>
        </p:txBody>
      </p:sp>
      <p:pic>
        <p:nvPicPr>
          <p:cNvPr id="19" name="Picture 18" descr="m-ans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2322" y="2240280"/>
            <a:ext cx="2049274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05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04 · КОНТЕКСТ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Факты считает код, а не догадки модели.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715000" cy="42976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487168"/>
            <a:ext cx="196596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64892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Сценарий из задания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9923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«Я турист, у меня 2 часа перед вылетом»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290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14:00, у Байтерека → быть в аэропорту к 15:45 (запас 15 мин)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40480"/>
            <a:ext cx="525780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0050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Байтерек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3959352"/>
            <a:ext cx="2084831" cy="384048"/>
          </a:xfrm>
          <a:prstGeom prst="roundRect">
            <a:avLst>
              <a:gd name="adj" fmla="val 12000"/>
            </a:avLst>
          </a:prstGeom>
          <a:solidFill>
            <a:srgbClr val="D1E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4041648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23F31"/>
                </a:solidFill>
                <a:latin typeface="Montserrat"/>
              </a:defRPr>
            </a:pPr>
            <a:r>
              <a:t>Выйти до 15:10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" y="4526280"/>
            <a:ext cx="92310" cy="128016"/>
          </a:xfrm>
          <a:prstGeom prst="rect">
            <a:avLst/>
          </a:prstGeom>
          <a:solidFill>
            <a:srgbClr val="123F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9862" y="4526280"/>
            <a:ext cx="1384662" cy="128016"/>
          </a:xfrm>
          <a:prstGeom prst="rect">
            <a:avLst/>
          </a:prstGeom>
          <a:solidFill>
            <a:srgbClr val="D1E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64525" y="4526280"/>
            <a:ext cx="1615440" cy="128016"/>
          </a:xfrm>
          <a:prstGeom prst="rect">
            <a:avLst/>
          </a:prstGeom>
          <a:solidFill>
            <a:srgbClr val="A9B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79965" y="4526280"/>
            <a:ext cx="1753906" cy="128016"/>
          </a:xfrm>
          <a:prstGeom prst="rect">
            <a:avLst/>
          </a:prstGeom>
          <a:solidFill>
            <a:srgbClr val="E1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818888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123F31"/>
                </a:solidFill>
                <a:latin typeface="Montserrat"/>
              </a:defRPr>
            </a:pPr>
            <a:r>
              <a:t>2 туда + 30 на месте + 35 обратно = 67 из 105 мин · запас 38 мин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48640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2 часа — свободное время до аэропорта; такси уже в «Выйти до».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И напоминание: если это время до самого вылета — ехать сразу, на регистрацию нужно 2–3 часа.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Часы на момент прихода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61518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Не «открыто сейчас», а когда дойдёшь; в праздники РК уверенность ниже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154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Пешком по улицам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48386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Граф OSM и мосты через Есиль, а не расстояние по прямой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Погода, воздух, темнота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35254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Мороз и смог — места в тепле; неосвещённые парки вечером не советуем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920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Дети и доступность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22122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Бары и кальянные исключены кодом; пандусы — только по данным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7607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Только Астана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608990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Места, фото, события и карта — в границах города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06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05 · БОЛЬШЕ, ЧЕМ СПИСОК МЕСТ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Маршруты, фото, голос — и Telegram.</a:t>
            </a:r>
          </a:p>
        </p:txBody>
      </p:sp>
      <p:pic>
        <p:nvPicPr>
          <p:cNvPr id="7" name="Picture 6" descr="m-ide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202" y="2194560"/>
            <a:ext cx="2049274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43400" y="2240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Готовые маршруты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56946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Символы столицы, парки, музеи, кофе, вечер, с ребёнком — от твоей точки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971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«Начать прогулку»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30098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Весь маршрут по точкам — в 2GIS или Google Картах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703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Фото «Где я?» и голос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03250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Узнаёт место по фото; вопрос голосом на RU/KK/EN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4348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Три языка до названий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476402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1 882 места и 27 ориентиров: Бәйтерек / Baiterek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5166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Телефон и Telegram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549554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PWA на экране, прогулка без сети; @SeruendeshAl_bot: фото, голосовые, /routes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5897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MCP-коннектор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622706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Серу как инструмент для Claude и других ИИ-агентов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07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06 · ТЕХНОЛОГИЯ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RAG: код отбирает, ИИ объясняет.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Понять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Правила + gpt-6-luna: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время, с кем, чего хочется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Отобрать кодом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Граф улиц, часы при приходе,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погода и ограничения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Найти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BM25 + multilingual-e5,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RRF → 10 кандидатов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3544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7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Выбрать и объяснить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gpt-6-luna: 1–3 места,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почему и план визита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7150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Валидатор: только места из кандидатов, без выдуманных часов и цен; иначе — шаблон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08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07 ·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Собраны автоматически. Только Астана.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2271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мест в Астане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часы работы с источником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(26,4% мест, доля растёт)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263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события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(Ticketon, Sxodim)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150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частых мест проверены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по источникам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41648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Места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34256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OpenStreetMap, Overture, Wikidata, Википедия — make data; раз в неделю заново и PR на проверку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041648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Часы — только с источником и датой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334256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OSM, сайты мест и сетей, CityPass, порталы, Sxodim со ссылкой; старое — с низкой уверенностью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9204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События и погода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184648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Афиша — Ticketon и Sxodim; погода и воздух — Open-Meteo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89204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2ГИС сознательно не используем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184648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Лицензия запрещает извлекать и хранить их данные; на карточке — «Открыть в 2ГИС»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742432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Нет данных — так и пишем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035040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«Часы неизвестны» вместо догадки; рейтинги не показываем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742432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Фото со ссылкой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6035040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Commons или сайт заведения, проверены ИИ-зрением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09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08 · ДОВЕРИЕ И ПРИВАТНОСТЬ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Полезный ответ показывает свои границы.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32588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18004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Доверие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1635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Источник и дата рядом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45536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Часы, описание и фото — со ссылкой; «туда + на месте = … из … мин» на каждой карточке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7822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Неизвестное видно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07408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«Часы неизвестны», «идея ИИ»; в праздники РК уверенность в часах ниже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40096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Отметки посетителей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«Было закрыто» только снижает доверие к часам; «понравилось» его не повышает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240280"/>
            <a:ext cx="132588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2318004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Приватность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1635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Локация ~100 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145536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Геолокацию спрашиваем только после запроса; округляем и в ИИ не отправляем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07822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До ИИ — без лишнего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407408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Координаты, номера домов, телефоны маскируются; адрес старта — геокодеру, не 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340096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Голос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66928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На сайте — речевой сервис браузера (Chrome отправляет звук в Google); голосовые в Telegram расшифровывает OpenAI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41080" y="2240280"/>
            <a:ext cx="3017520" cy="33924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lace-detai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2290572"/>
            <a:ext cx="29260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6344" y="256032"/>
            <a:ext cx="292608" cy="384048"/>
          </a:xfrm>
          <a:prstGeom prst="roundRect">
            <a:avLst>
              <a:gd name="adj" fmla="val 12000"/>
            </a:avLst>
          </a:prstGeom>
          <a:solidFill>
            <a:srgbClr val="FA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FFFF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D1E884"/>
                </a:solidFill>
                <a:latin typeface="Montserrat"/>
              </a:defRPr>
            </a:pPr>
            <a: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D1E884"/>
                </a:solidFill>
                <a:latin typeface="Montserrat"/>
              </a:defRPr>
            </a:pPr>
            <a:r>
              <a:t>09 · ДЛЯ ГОРОДА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Карта спроса для акимата — без личных данных.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667512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sigh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8132" y="2313432"/>
            <a:ext cx="4136136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35240" y="23774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Что ищут, где и когда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77977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Темы, районы ≈1 км, время суток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401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Где город не отвечает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803904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Рядом нет подходящего или всё закрыто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42569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k-анонимно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82803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Только счётчики, значения от 5 запросов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44982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Открытые данные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585216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JSON для городских дашбордов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10 · ПРОВЕРКА КАЧЕСТВА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Проверяем сценарии, а не обещания.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170/170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проверок на 15 сценариях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(продакшен, 19.10)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4,4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медиана ответа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(продакшен, 19.10)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~1 500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автотестов в CI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на каждый push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20/23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ответов без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неподтверждённых фактов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6634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Автотесты: бэкенд 698 · данные 361 · QA 374 · поиск 7 · бот 12 · фронтенд 30 + 31 в браузере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257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Что дальше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15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75816F"/>
                </a:solidFill>
                <a:latin typeface="Montserrat"/>
              </a:defRPr>
            </a:pPr>
            <a:r>
              <a:t>Проверка полезности на реальных прогулках и больше часов работы из официальных источников.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11 · ОГРАНИЧЕНИЯ И РИСКИ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Что может пойти не так — и что мы делаем.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Данные неполные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532888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часы работы с источником: 600 мест (26,4%); ещё 496 открытых территорий — «вход свободный»; у остальных — «часы неизвестны»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36392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558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Часы меняются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832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у часов — источник и дата; праздники РК и «было закрыто» снижают доверие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86784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ИИ может ошибиться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233672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валидатор, честный шаблон и метка «идея ИИ»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37176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Приватность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084064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локация ~100 м и не уходит в ИИ; аналитика только k-анонимная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687568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90702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Лицензии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934456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открытые и официальные источники, Sxodim — по его условиям, со ссылкой; 2ГИС и Google не используем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12 · БИЗНЕС И РАЗВИТИЕ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Модуль для умного города.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B2G white-label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7977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Smart Astana, Visit Astana, киоски аэропорта NQZ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Аналитика для акимата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6849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«Для города»: спрос и пробелы по районам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Партнёры-заведения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5721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Сами обновляют часы и фото; реклама помечена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331720"/>
            <a:ext cx="4937760" cy="393192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25603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План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1546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Пилот 1–2 мес.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204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реальные прогулки, данные НИЦ о часах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1148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4805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групповой режим, микро-квесты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074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v3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54406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киоски, офлайн для туристов, API для НИЦ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6344" y="256032"/>
            <a:ext cx="292608" cy="384048"/>
          </a:xfrm>
          <a:prstGeom prst="roundRect">
            <a:avLst>
              <a:gd name="adj" fmla="val 12000"/>
            </a:avLst>
          </a:prstGeom>
          <a:solidFill>
            <a:srgbClr val="FA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FFFF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D1E884"/>
                </a:solidFill>
                <a:latin typeface="Montserrat"/>
              </a:defRPr>
            </a:pPr>
            <a:r>
              <a:t>14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D1E884"/>
                </a:solidFill>
                <a:latin typeface="Montserrat"/>
              </a:defRPr>
            </a:pPr>
            <a:r>
              <a:t>13 · ПРИГЛАШЕНИЕ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81381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4300" b="1">
                <a:solidFill>
                  <a:srgbClr val="FFFFFF"/>
                </a:solidFill>
                <a:latin typeface="Montserrat"/>
              </a:defRPr>
            </a:pPr>
            <a:r>
              <a:t>Меньше планирования.</a:t>
            </a:r>
          </a:p>
          <a:p>
            <a:pPr>
              <a:spcAft>
                <a:spcPts val="700"/>
              </a:spcAft>
              <a:defRPr sz="4300" b="1">
                <a:solidFill>
                  <a:srgbClr val="FFFFFF"/>
                </a:solidFill>
                <a:latin typeface="Montserrat"/>
              </a:defRPr>
            </a:pPr>
            <a:r>
              <a:t>Больше открытий.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657600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D1E884"/>
                </a:solidFill>
                <a:latin typeface="Montserrat"/>
              </a:defRPr>
            </a:pPr>
            <a:r>
              <a:t>Твоя следующая прогулка начинается здесь.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621792" y="4617720"/>
            <a:ext cx="5212080" cy="822960"/>
          </a:xfrm>
          <a:prstGeom prst="roundRect">
            <a:avLst>
              <a:gd name="adj" fmla="val 12000"/>
            </a:avLst>
          </a:prstGeom>
          <a:solidFill>
            <a:srgbClr val="D1E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2803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3F31"/>
                </a:solidFill>
                <a:latin typeface="Montserrat"/>
              </a:defRPr>
            </a:pPr>
            <a:r>
              <a:rPr u="none">
                <a:solidFill>
                  <a:srgbClr val="123F31"/>
                </a:solidFill>
                <a:hlinkClick r:id="rId4"/>
              </a:rPr>
              <a:t>seruendesh.site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669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D1E884"/>
                </a:solidFill>
                <a:latin typeface="Montserrat"/>
              </a:defRPr>
            </a:pPr>
            <a:r>
              <a:t>Telegram: @SeruendeshAl_bot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508760"/>
            <a:ext cx="2651760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1673352"/>
            <a:ext cx="2322576" cy="2322576"/>
          </a:xfrm>
          <a:prstGeom prst="rect">
            <a:avLst/>
          </a:prstGeom>
        </p:spPr>
      </p:pic>
      <p:pic>
        <p:nvPicPr>
          <p:cNvPr id="14" name="Picture 13" descr="seru-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861" y="4023360"/>
            <a:ext cx="2464157" cy="2560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23F31"/>
      </a:hlink>
      <a:folHlink>
        <a:srgbClr val="123F3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23F31"/>
      </a:hlink>
      <a:folHlink>
        <a:srgbClr val="123F3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