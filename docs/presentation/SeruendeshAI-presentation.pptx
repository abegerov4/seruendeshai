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0:00–0:20. Свободный час в Астане — куда пойти, что успеть и как дойти. SeruendeshAI отвечает 1–3 конкретными местами: почему они подходят, сколько там провести и что делать. Всё, что покажем, работает на seruendesh.site.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0:20–0:40. Карты дают сотни точек, но не отвечают на главное: успею ли я, будет ли открыто, когда дойду, подходит ли это мне сейчас — с ребёнком, в мороз, перед рейсом.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0:40–1:05. Чат слева, карта справа. Пишешь желание своими словами — получаешь места, маршрут по улицам и следующую остановку. Можно уточнить: ближе, без кофе, в помещении.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1:05–1:45. Пример прямо из задания — «Я у здания Экспо, хочу что-то необычное на 1–2 часа, пешком». Это реальный ответ продакшена: расстояние и минуты посчитал код по графу улиц, часы — с источником, а план визита написал ИИ по проверенным фактам о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1:45–2:15. Это главное отличие от чат-бота: время в пути — по пешеходному графу OSM, часы проверяются на момент прихода, учитываются погода, качество воздуха и темнота, дедлайн рейса. Всё это — жёсткие правила в коде.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2:15–2:50. Кнопка «Маршруты» собирает тематические прогулки от тебя — символы столицы, парки, музеи, кофе, вечер, с ребёнком; каждый — реальный маршрут с проверкой часов. «Начать прогулку» открывает весь маршрут в 2GIS или Google Картах. Названия мест и карточки — на русском, казахском и английском. Ещё: «маршрут от AITU до ботсада», «от дома», фото «где я?», голос и MCP — Серу как инструмент для ИИ-агентов.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2:50–3:25. Запрос разбирают правила и gpt-6-luna. Код отбирает достижимые и открытые места, поиск BM25 + multilingual-e5 через RRF даёт 10 кандидатов. gpt-6-luna выбирает 1–3 и объясняет; валидатор пропускает только id из кандидатов и вырезает выдуманные часы, цены и удобства. Без ключа OpenAI — честный шаблонный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3:25–3:55. Требование задания — собрать датасет и автоматизировать сбор. make data одной командой качает OSM, Overture, Wikidata, Википедию, CityPass и события и строит граф; раз в неделю GitHub Actions сам собирает данные заново и открывает PR с новым снимком на проверку. Для 150 самых частых мест факты проверены по официальным источникам со ссылками. 2GIS и Google не используем — их условия запрещают.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3:55–4:20. Источник рядом с каждым фактом, неизвестные часы так и подписаны. Локация округляется до ~100 м и не уходит в ИИ. Инъекции в запросе вырезаются, телефоны маскируются до ИИ. Иллюстрации ИИ подписаны.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4:20–4:50. Это ответ на вопрос «зачем это городу». Страница «Для города» показывает, что ищут жители и гости, где и когда, и где город не отвечает: рядом ничего нет или всё закрыто. Хранятся только счётчики: ячейка около километра, интервал три часа, тип запроса; значение видно только от пяти запросов. Открытые агрегаты в JSON — для дашбордов НИЦ.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4:50–5:10. С телефона — как приложение: чат, карта, места и план. Ставится на экран (PWA), сохранённая прогулка доступна без сети. В Telegram — тот же Серу: карточки мест с фото, маршруты, дом и голосовые сообщения на русском и казахском.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5:10–5:35. На продакшене 19.10: 170 из 170 автоматических проверок на 15 сценариях, включая пять официальных; медиана ответа 4,4 секунды. Около 1 300 автотестов в CI на каждый push. Нейтральный ИИ-судья: 20 из 23 ответов без неподтверждённых утверждений. Следующий шаг — проверка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5:35–6:00. Честно: в открытых данных мало часов работы и фото — поэтому метки «уточняй» и проверенные факты по самым частым местам. ИИ может ошибиться — валидатор, шаблонный ответ и метка «идея ИИ». Приватность — округление и k-анонимность. Лицензии — только разрешённые источники.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6:00–6:20. Модель — B2G white-label для городских сервисов: Smart Astana, Visit Astana, киоски аэропорта; плюс аналитика спроса для акимата. Заведения могут сами держать часы и фото актуальными. Это план, а не заключённые партнёрства: сначала пилот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6:20–6:40. SeruendeshAI превращает свободное время в понятную прогулку по Астане. Попробуйте сами — QR ведёт на seruendesh.site, бот — @SeruendeshAl_bot.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Relationship Id="rId4" Type="http://schemas.openxmlformats.org/officeDocument/2006/relationships/hyperlink" Target="https://seruendesh.site" TargetMode="External"/><Relationship Id="rId5" Type="http://schemas.openxmlformats.org/officeDocument/2006/relationships/image" Target="../media/image12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AI-КОМПАНЬОН ДЛЯ ПРОГУЛОК ПО АСТАНЕ</a:t>
            </a:r>
          </a:p>
        </p:txBody>
      </p:sp>
      <p:pic>
        <p:nvPicPr>
          <p:cNvPr id="6" name="Picture 5" descr="friends-golden.png"/>
          <p:cNvPicPr>
            <a:picLocks noChangeAspect="1"/>
          </p:cNvPicPr>
          <p:nvPr/>
        </p:nvPicPr>
        <p:blipFill>
          <a:blip r:embed="rId4"/>
          <a:srcRect l="20657" r="20657"/>
          <a:stretch>
            <a:fillRect/>
          </a:stretch>
        </p:blipFill>
        <p:spPr>
          <a:xfrm>
            <a:off x="6080760" y="914400"/>
            <a:ext cx="5577840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44768" y="632764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5816F"/>
                </a:solidFill>
                <a:latin typeface="Montserrat"/>
              </a:defRPr>
            </a:pPr>
            <a:r>
              <a:t>ИИ-иллюстрация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4400" b="1">
                <a:solidFill>
                  <a:srgbClr val="123F31"/>
                </a:solidFill>
                <a:latin typeface="Montserrat"/>
              </a:defRPr>
            </a:pPr>
            <a:r>
              <a:t>Свободный час.</a:t>
            </a:r>
          </a:p>
          <a:p>
            <a:pPr>
              <a:spcAft>
                <a:spcPts val="700"/>
              </a:spcAft>
              <a:defRPr sz="4400" b="1">
                <a:solidFill>
                  <a:srgbClr val="123F31"/>
                </a:solidFill>
                <a:latin typeface="Montserrat"/>
              </a:defRPr>
            </a:pPr>
            <a:r>
              <a:t>Своя Астана.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747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75816F"/>
                </a:solidFill>
                <a:latin typeface="Montserrat"/>
              </a:defRPr>
            </a:pPr>
            <a:r>
              <a:t>Прогулка, которая начинается</a:t>
            </a:r>
          </a:p>
          <a:p>
            <a:pPr>
              <a:spcAft>
                <a:spcPts val="700"/>
              </a:spcAft>
              <a:defRPr sz="2200" b="0">
                <a:solidFill>
                  <a:srgbClr val="75816F"/>
                </a:solidFill>
                <a:latin typeface="Montserrat"/>
              </a:defRPr>
            </a:pPr>
            <a:r>
              <a:t>с твоего желания.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" y="4617720"/>
            <a:ext cx="1874519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695444"/>
            <a:ext cx="169163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30 / 60 / 120 минут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4617720"/>
            <a:ext cx="1600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4695444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RU · ҚАЗ · EN</a:t>
            </a:r>
          </a:p>
        </p:txBody>
      </p:sp>
      <p:pic>
        <p:nvPicPr>
          <p:cNvPr id="14" name="Picture 13" descr="ser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405" y="4206240"/>
            <a:ext cx="2332149" cy="24231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01 · 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Иногда сложнее выбрать,</a:t>
            </a:r>
          </a:p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чем просто выйти.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9808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Есть только 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Нужно учесть дорогу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 время на месте.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17136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Хочется по настроению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Кофе, тишина, прогулка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или время с ребёнком.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4464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Город незнаком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Где начать, что рядом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 куда идти дальше?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02 · 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Один экран. Понятный следующий шаг.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873252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sktop-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811" y="2395728"/>
            <a:ext cx="7250176" cy="4078224"/>
          </a:xfrm>
          <a:prstGeom prst="rect">
            <a:avLst/>
          </a:prstGeom>
        </p:spPr>
      </p:pic>
      <p:pic>
        <p:nvPicPr>
          <p:cNvPr id="9" name="Picture 8" descr="seru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8943" y="3840480"/>
            <a:ext cx="2376152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64040" y="256032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Запрос.</a:t>
            </a:r>
          </a:p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Выбор.</a:t>
            </a:r>
          </a:p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Прогулка.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03 · ОТВЕТ ПО ФОРМАТУ ЗАДАНИЯ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1–3 места: почему, сколько времени, что делать.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7406640" cy="822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70408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23F31"/>
                </a:solidFill>
                <a:latin typeface="Montserrat"/>
              </a:defRPr>
            </a:pPr>
            <a:r>
              <a:t>«Я у здания Экспо 2017, хочу что-то необычное</a:t>
            </a:r>
          </a:p>
          <a:p>
            <a:pPr>
              <a:spcAft>
                <a:spcPts val="700"/>
              </a:spcAft>
              <a:defRPr sz="1400" b="1">
                <a:solidFill>
                  <a:srgbClr val="123F31"/>
                </a:solidFill>
                <a:latin typeface="Montserrat"/>
              </a:defRPr>
            </a:pPr>
            <a:r>
              <a:t>на 1–2 часа, пешком»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7406640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8269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Nur Alem Museum of Future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75816F"/>
                </a:solidFill>
                <a:latin typeface="Montserrat"/>
              </a:defRPr>
            </a:pPr>
            <a:r>
              <a:t>980 м · 14 мин пешком · 40–75 мин на месте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0448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Почему: Сфера бывшего павильона Казахстана — уже необычный ориентир, а внутри музей с экспозициями об энергии космоса, солнца и ветра.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6168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Что делать: Сначала осмотрите этажи с экспозициями об энергии, затем задержитесь у самой сферы и выберите для продолжения прогулки Тәуелсіздіктің 25 жылдығы.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60"/>
            <a:ext cx="7406640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657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25-ти летие Независимости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9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75816F"/>
                </a:solidFill>
                <a:latin typeface="Montserrat"/>
              </a:defRPr>
            </a:pPr>
            <a:r>
              <a:t>930 м · 13 мин пешком · 15–30 мин на месте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8756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Почему: Эта стела высотой около 70 метров стоит на территории ЭКСПО; её 25 граней символизируют годы независимости.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Что делать: Обойдите стелу, рассмотрите её грани и сделайте снимок снизу вверх; затем можно вернуться к сфере Nur Alem.</a:t>
            </a:r>
          </a:p>
        </p:txBody>
      </p:sp>
      <p:pic>
        <p:nvPicPr>
          <p:cNvPr id="19" name="Picture 18" descr="m-ans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322" y="2240280"/>
            <a:ext cx="2049274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04 · КОНТЕКСТ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Факты считает код, а не догадки модели.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Часы на момент прихода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Не «открыто сейчас», а когда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ты дойдёшь, с источником часов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25146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7432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Пешком по улицам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329184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Граф OSM и мосты через Есиль,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а не расстояние по прямой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25146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7432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Погода, воздух, темнота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29184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Мороз и смог — места в тепле;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неосвещённые парки вечером не советуем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2628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«Выйти до» к рейсу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0352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Такси до аэропорта и запас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на регистрацию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452628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47548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Дети и доступность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530352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Бары и кальянные исключены кодом;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пандусы — только по данным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3296" y="452628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1896" y="47548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Только Астана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530352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Места, фото, события и карта —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 границах города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05 · БОЛЬШЕ, ЧЕМ СПИСОК МЕСТ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Маршруты, навигация, фото, голос, три языка.</a:t>
            </a:r>
          </a:p>
        </p:txBody>
      </p:sp>
      <p:pic>
        <p:nvPicPr>
          <p:cNvPr id="7" name="Picture 6" descr="m-ide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202" y="2194560"/>
            <a:ext cx="2049274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23317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Готовые маршруты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73405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Символы столицы, парки, музеи, кофе, вечер, с ребёнком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18211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«Начать прогулку»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584448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Весь маршрут по точкам — в 2GIS или Google Картах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032504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Фото «Где я?» и голос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4348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Узнаёт место по фото; вопрос голосом на RU/KK/EN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882896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Три языка до названий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5285232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1 882 места и 27 ориентиров: Бәйтерек / Baiterek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573328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MCP-коннектор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613562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Серу как инструмент для Claude и других ИИ-агентов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06 · ТЕХНОЛОГИЯ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RAG: код отбирает, ИИ объясняет.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Понять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Правила + gpt-6-luna: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время, с кем, чего хочется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Отобрать кодом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Граф улиц, часы при приходе,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погода и ограничения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Найти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BM25 + multilingual-e5,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RRF → 10 кандидатов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3544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7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Выбрать и объяснить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gpt-6-luna: 1–3 места,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почему и план визита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7150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Валидатор: только места из кандидатов, без выдуманных часов и цен; иначе — шаблон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07 ·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Собраны автоматически. Только Астана.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578608" cy="160020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560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2268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29184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мест в Астане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377440"/>
            <a:ext cx="2578608" cy="160020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560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29184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событий (Ticketon)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77440"/>
            <a:ext cx="2578608" cy="160020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560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29184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частых мест проверены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по источникам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377440"/>
            <a:ext cx="2578608" cy="160020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2560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29184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в неделю сбор заново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и PR на проверку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Открытые источники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08576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OpenStreetMap, Overture, Wikidata, Википедия, CityPass, Ticketon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Сбор одной командой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4608576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make data: OSM (Overpass), Overture, Wikidata, Википедия → граф улиц → эмбеддинги → события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Каждый факт со ссылкой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05856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Часы с датой проверки; фото — Commons рядом с местом или сайт .kz, проверены ИИ-зрением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3035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Честно об ограничениях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5705856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2GIS и Google не используем: их условия запрещают хранить данные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08 · ДОВЕРИЕ И ПРИВАТНОСТЬ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Полезный ответ показывает свои границы.</a:t>
            </a:r>
          </a:p>
        </p:txBody>
      </p:sp>
      <p:pic>
        <p:nvPicPr>
          <p:cNvPr id="7" name="Picture 6" descr="place-detai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4880" y="2377440"/>
            <a:ext cx="369824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5146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23F31"/>
                </a:solidFill>
                <a:latin typeface="Montserrat"/>
              </a:defRPr>
            </a:pPr>
            <a:r>
              <a:t>Источник рядом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693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Часы, описание и фото — со ссылкой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0215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23F31"/>
                </a:solidFill>
                <a:latin typeface="Montserrat"/>
              </a:defRPr>
            </a:pPr>
            <a:r>
              <a:t>Неизвестное видно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04488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«Часы уточняй», «идея ИИ» — честные метки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9704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23F31"/>
                </a:solidFill>
                <a:latin typeface="Montserrat"/>
              </a:defRPr>
            </a:pPr>
            <a:r>
              <a:t>Локация ~100 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9204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Округляется и не передаётся в 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77256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23F31"/>
                </a:solidFill>
                <a:latin typeface="Montserrat"/>
              </a:defRPr>
            </a:pPr>
            <a:r>
              <a:t>Защита запроса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79592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Инъекции вырезаются, телефоны маскируются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6344" y="256032"/>
            <a:ext cx="292608" cy="384048"/>
          </a:xfrm>
          <a:prstGeom prst="roundRect">
            <a:avLst>
              <a:gd name="adj" fmla="val 12000"/>
            </a:avLst>
          </a:prstGeom>
          <a:solidFill>
            <a:srgbClr val="FA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D1E884"/>
                </a:solidFill>
                <a:latin typeface="Montserrat"/>
              </a:defRPr>
            </a:pPr>
            <a:r>
              <a:t>10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D1E884"/>
                </a:solidFill>
                <a:latin typeface="Montserrat"/>
              </a:defRPr>
            </a:pPr>
            <a:r>
              <a:t>09 · ДЛЯ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Карта спроса для акимата — без личных данных.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667512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s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8132" y="2313432"/>
            <a:ext cx="4136136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35240" y="23774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Что ищут, где и когда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77977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Темы, районы ≈1 км, время суток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401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Где город не отвечает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803904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Рядом нет подходящего или всё 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42569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k-анонимно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82803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Только счётчики, значения от 5 запросов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44982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Открытые данные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585216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JSON для городских дашбордов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10 · МОБИЛЬНЫЙ 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Астана — в кармане.</a:t>
            </a:r>
          </a:p>
        </p:txBody>
      </p:sp>
      <p:pic>
        <p:nvPicPr>
          <p:cNvPr id="7" name="Picture 6" descr="mobile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09" y="2194560"/>
            <a:ext cx="2007021" cy="4343400"/>
          </a:xfrm>
          <a:prstGeom prst="rect">
            <a:avLst/>
          </a:prstGeom>
        </p:spPr>
      </p:pic>
      <p:pic>
        <p:nvPicPr>
          <p:cNvPr id="8" name="Picture 7" descr="mobile-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9909" y="2194560"/>
            <a:ext cx="2007021" cy="434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260604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Открыть. Выбрать. Пойти.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429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Три языка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2219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Русский · Қазақша · English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PWA и без сети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6908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Ставится на телефон; прогулка сохраняется офлайн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166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Telegram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55955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@SeruendeshAl_bot: фото, голосовые, /routes, /home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11 · ПРОВЕРКА КАЧЕСТВА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Проверяем сценарии, а не обещания.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2578608" cy="1965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170/170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79476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проверок на 15 сценариях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651760"/>
            <a:ext cx="2578608" cy="1965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88036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4,4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79476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медиана ответа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(продакшен, 19.10)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651760"/>
            <a:ext cx="2578608" cy="1965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88036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~1300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79476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автотестов в CI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на каждый push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651760"/>
            <a:ext cx="2578608" cy="1965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288036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20/23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79476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ответов без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неподтверждённых фактов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0292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Что дальше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864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75816F"/>
                </a:solidFill>
                <a:latin typeface="Montserrat"/>
              </a:defRPr>
            </a:pPr>
            <a:r>
              <a:t>Проверка полезности на реальных прогулках и больше подтверждённых часов работы.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12 · ОГРАНИЧЕНИЯ И РИСКИ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Что может пойти не так — и что мы делаем.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243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Данные неполные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651760"/>
            <a:ext cx="7589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часы у ~20% мест, фото у ~3% → метка «уточняй» и проверенные факты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01568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6484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ИИ может ошибиться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75888"/>
            <a:ext cx="7589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валидатор, честный шаблон и метка «идея ИИ»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25696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672583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Приватность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4700016"/>
            <a:ext cx="7589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локация ~100 м, в ИИ не уходит; аналитика только k-анонимная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49824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69671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23F31"/>
                </a:solidFill>
                <a:latin typeface="Montserrat"/>
              </a:defRPr>
            </a:pPr>
            <a:r>
              <a:t>Лицензии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5724144"/>
            <a:ext cx="7589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только открытые и разрешённые источники; 2GIS и Google не используем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13 · БИЗНЕС И РАЗВИТИЕ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Модуль для умного города.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B2G white-label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7977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Smart Astana, Visit Astana, киоски аэропорта NQZ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Аналитика для акимата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6849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«Для города»: спрос и пробелы по районам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Партнёры-заведения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5721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Сами обновляют часы и фото; реклама помечена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331720"/>
            <a:ext cx="4937760" cy="393192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5603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154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Пилот 1–2 мес.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204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реальные прогулки, данные НИЦ о часах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1148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480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групповой режим, микро-квесты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074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v3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4406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киоски, офлайн для туристов, API для НИЦ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6344" y="256032"/>
            <a:ext cx="292608" cy="384048"/>
          </a:xfrm>
          <a:prstGeom prst="roundRect">
            <a:avLst>
              <a:gd name="adj" fmla="val 12000"/>
            </a:avLst>
          </a:prstGeom>
          <a:solidFill>
            <a:srgbClr val="FA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D1E884"/>
                </a:solidFill>
                <a:latin typeface="Montserrat"/>
              </a:defRPr>
            </a:pPr>
            <a:r>
              <a:t>15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D1E884"/>
                </a:solidFill>
                <a:latin typeface="Montserrat"/>
              </a:defRPr>
            </a:pPr>
            <a:r>
              <a:t>14 · ПРИГЛАШЕНИЕ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81381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4300" b="1">
                <a:solidFill>
                  <a:srgbClr val="FFFFFF"/>
                </a:solidFill>
                <a:latin typeface="Montserrat"/>
              </a:defRPr>
            </a:pPr>
            <a:r>
              <a:t>Меньше планирования.</a:t>
            </a:r>
          </a:p>
          <a:p>
            <a:pPr>
              <a:spcAft>
                <a:spcPts val="700"/>
              </a:spcAft>
              <a:defRPr sz="4300" b="1">
                <a:solidFill>
                  <a:srgbClr val="FFFFFF"/>
                </a:solidFill>
                <a:latin typeface="Montserrat"/>
              </a:defRPr>
            </a:pPr>
            <a:r>
              <a:t>Больше открытий.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5760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D1E884"/>
                </a:solidFill>
                <a:latin typeface="Montserrat"/>
              </a:defRPr>
            </a:pPr>
            <a:r>
              <a:t>Твоя следующая прогулка начинается здесь.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621792" y="4617720"/>
            <a:ext cx="5212080" cy="822960"/>
          </a:xfrm>
          <a:prstGeom prst="roundRect">
            <a:avLst>
              <a:gd name="adj" fmla="val 12000"/>
            </a:avLst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2803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3F31"/>
                </a:solidFill>
                <a:latin typeface="Montserrat"/>
              </a:defRPr>
            </a:pPr>
            <a:r>
              <a:rPr u="none">
                <a:solidFill>
                  <a:srgbClr val="123F31"/>
                </a:solidFill>
                <a:hlinkClick r:id="rId4"/>
              </a:rPr>
              <a:t>seruendesh.site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D1E884"/>
                </a:solidFill>
                <a:latin typeface="Montserrat"/>
              </a:defRPr>
            </a:pPr>
            <a:r>
              <a:t>Telegram: @SeruendeshAl_bot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508760"/>
            <a:ext cx="265176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1673352"/>
            <a:ext cx="2322576" cy="2322576"/>
          </a:xfrm>
          <a:prstGeom prst="rect">
            <a:avLst/>
          </a:prstGeom>
        </p:spPr>
      </p:pic>
      <p:pic>
        <p:nvPicPr>
          <p:cNvPr id="14" name="Picture 13" descr="seru-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861" y="4023360"/>
            <a:ext cx="2464157" cy="2560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23F31"/>
      </a:hlink>
      <a:folHlink>
        <a:srgbClr val="123F3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23F31"/>
      </a:hlink>
      <a:folHlink>
        <a:srgbClr val="123F3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