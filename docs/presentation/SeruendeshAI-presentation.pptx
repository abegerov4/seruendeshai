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0:00–0:15. Свободный час в Астане — куда пойти, что успеть и как дойти. SeruendeshAI отвечает 1–3 конкретными местами: почему подходят, сколько там провести и что делать. Всё, что покажем, работает на seruendesh.site.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0:15–0:35. Карты дают сотни точек, но не отвечают на главное: успею ли я, будет ли открыто, когда дойду, подходит ли это мне сейчас — с ребёнком, в мороз, перед рейсом.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0:35–0:55. Чат слева, карта справа. Пишешь желание своими словами — получаешь места, маршрут по улицам и следующую остановку. Можно уточнить: ближе, без кофе, в помещении.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0:55–1:25. Пример прямо из задания — «Я у здания Экспо, хочу что-то необычное на 1–2 часа, пешком». Это реальный ответ продакшена: расстояние и минуты посчитал код по графу улиц, часы — с источником, а план визита написал ИИ по проверенным фактам о месте.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1:25–2:00. Второй сценарий из задания — «Я турист, у меня 2 часа перед вылетом». Эти два часа Серу считает свободным временем до аэропорта: в 14:00 у Байтерека быть в аэропорту нужно к 15:45, с запасом 15 минут на дорогу. На карточке — «Выйти до 15:10»: такси до аэропорта уже учтено, и строка «2 туда + 30 на месте + 35 обратно = 67 из 105 мин». И напоминание: если это время до самого вылета — лучше ехать сразу, на регистрацию нужно 2–3 часа. Так же кодом: часы на момент прихода, праздники, погода, смог, темнота, дети.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2:00–2:25. Кнопка «Маршруты» собирает тематические прогулки от тебя: символы столицы, парки, музеи, кофе, вечер, с ребёнком — каждый с проверкой часов. «Начать прогулку» открывает весь маршрут в 2GIS или Google Картах. Фото «где я?», голос, три языка до названий мест. С телефона — как приложение, прогулка доступна без сети; в Telegram — тот же Серу. И MCP: Серу как инструмент для ИИ-агентов.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2:25–2:50. Запрос разбирают правила и gpt-6-luna. Код отбирает достижимые и открытые места, поиск BM25 + multilingual-e5 через RRF даёт 10 кандидатов. gpt-6-luna выбирает 1–3 и объясняет; валидатор пропускает только места из кандидатов и вырезает выдуманные часы и цены. Без ключа OpenAI — честный шаблонный ответ.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2:50–3:15. Датасет собирается автоматически: make data качает OpenStreetMap, Overture, Wikidata и Википедию, события — Ticketon и Sxodim, погода — Open-Meteo; раз в неделю GitHub Actions собирает заново и открывает PR. Часы работы — только из открытых и официальных источников: OSM, сайты мест и сетей, CityPass, официальные порталы, у каждого источник и дата; сейчас это 485 мест. Нет данных — пишем «часы неизвестны», не угадываем. 2ГИС сознательно не используем: лицензия запрещает извлекать и хранить их данные; на карточке есть кнопка «Открыть в 2ГИС». Рейтинги не показываем.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3:15–3:40. У каждого факта — источник и дата, на карточке — «туда + на месте = … из … мин». Неизвестные часы так и подписаны; в праздники уверенность ниже, а отметки посетителей «было закрыто» могут только снизить доверие. Приватность: геолокацию спрашиваем только после запроса, округляем до ~100 м и в ИИ не отправляем; координаты, номера домов и телефоны маскируются, адрес старта идёт в геокодер, а не в ИИ. Голос на сайте распознаёт браузер — Chrome отправляет звук в Google; в Telegram голосовые расшифровывает OpenAI.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3:40–4:00. Зачем это городу: страница «Для города» показывает, что ищут жители и гости, где и когда, и где город не отвечает — рядом ничего нет или всё закрыто. Хранятся только счётчики: ячейка около километра, интервал три часа, значение видно от пяти запросов. Открытые агрегаты в JSON — для дашбордов НИЦ.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4:00–4:20. На продакшене 19.10: 170 из 170 автоматических проверок на 15 сценариях, включая официальные; медиана ответа 4,4 секунды. Около 1 340 автотестов в CI на каждый push — бэкенд, данные, QA, поиск, бот и фронтенд. Нейтральный ИИ-судья: 20 из 23 ответов без неподтверждённых утверждений. Следующий шаг — проверка на реальных прогулках.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4:20–4:35. Честно: часов работы в открытых данных мало — с источником 485 мест, у остальных пишем «часы неизвестны». Часы меняются — дата у каждого источника, праздники и отметки посетителей снижают уверенность. ИИ может ошибиться — валидатор и метка «идея ИИ». Лицензии — только открытые и официальные источники, данные 2ГИС не используем.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4:35–4:50. Модель — B2G white-label для городских сервисов: Smart Astana, Visit Astana, киоски аэропорта; плюс аналитика спроса для акимата. Заведения могут сами держать часы и фото актуальными. Это план, а не заключённые партнёрства: сначала пилот на реальных прогулках.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4:50–5:00. SeruendeshAI превращает свободное время в понятную прогулку по Астане. Попробуйте сами — QR ведёт на seruendesh.site, бот — @SeruendeshAl_bot.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.xml"/><Relationship Id="rId4" Type="http://schemas.openxmlformats.org/officeDocument/2006/relationships/image" Target="../media/image2.png"/><Relationship Id="rId5" Type="http://schemas.openxmlformats.org/officeDocument/2006/relationships/image" Target="../media/image3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4.xml"/><Relationship Id="rId4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6.xml"/><Relationship Id="rId4" Type="http://schemas.openxmlformats.org/officeDocument/2006/relationships/image" Target="../media/image7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9.xml"/><Relationship Id="rId4" Type="http://schemas.openxmlformats.org/officeDocument/2006/relationships/image" Target="../media/image8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0.xml"/><Relationship Id="rId4" Type="http://schemas.openxmlformats.org/officeDocument/2006/relationships/image" Target="../media/image9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14.xml"/><Relationship Id="rId4" Type="http://schemas.openxmlformats.org/officeDocument/2006/relationships/hyperlink" Target="https://seruendesh.site" TargetMode="External"/><Relationship Id="rId5" Type="http://schemas.openxmlformats.org/officeDocument/2006/relationships/image" Target="../media/image10.png"/><Relationship Id="rId6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01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AI-КОМПАНЬОН ДЛЯ ПРОГУЛОК ПО АСТАНЕ</a:t>
            </a:r>
          </a:p>
        </p:txBody>
      </p:sp>
      <p:pic>
        <p:nvPicPr>
          <p:cNvPr id="6" name="Picture 5" descr="friends-golden.png"/>
          <p:cNvPicPr>
            <a:picLocks noChangeAspect="1"/>
          </p:cNvPicPr>
          <p:nvPr/>
        </p:nvPicPr>
        <p:blipFill>
          <a:blip r:embed="rId4"/>
          <a:srcRect l="20657" r="20657"/>
          <a:stretch>
            <a:fillRect/>
          </a:stretch>
        </p:blipFill>
        <p:spPr>
          <a:xfrm>
            <a:off x="6080760" y="914400"/>
            <a:ext cx="5577840" cy="534924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144768" y="6327648"/>
            <a:ext cx="201168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900" b="0">
                <a:solidFill>
                  <a:srgbClr val="75816F"/>
                </a:solidFill>
                <a:latin typeface="Montserrat"/>
              </a:defRPr>
            </a:pPr>
            <a:r>
              <a:t>ИИ-иллюстрация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1508760"/>
            <a:ext cx="5486400" cy="1645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4400" b="1">
                <a:solidFill>
                  <a:srgbClr val="123F31"/>
                </a:solidFill>
                <a:latin typeface="Montserrat"/>
              </a:defRPr>
            </a:pPr>
            <a:r>
              <a:t>Свободный час.</a:t>
            </a:r>
          </a:p>
          <a:p>
            <a:pPr>
              <a:spcAft>
                <a:spcPts val="700"/>
              </a:spcAft>
              <a:defRPr sz="4400" b="1">
                <a:solidFill>
                  <a:srgbClr val="123F31"/>
                </a:solidFill>
                <a:latin typeface="Montserrat"/>
              </a:defRPr>
            </a:pPr>
            <a:r>
              <a:t>Своя Астана.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" y="3474720"/>
            <a:ext cx="5303520" cy="9144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200" b="0">
                <a:solidFill>
                  <a:srgbClr val="75816F"/>
                </a:solidFill>
                <a:latin typeface="Montserrat"/>
              </a:defRPr>
            </a:pPr>
            <a:r>
              <a:t>Прогулка, которая начинается</a:t>
            </a:r>
          </a:p>
          <a:p>
            <a:pPr>
              <a:spcAft>
                <a:spcPts val="700"/>
              </a:spcAft>
              <a:defRPr sz="2200" b="0">
                <a:solidFill>
                  <a:srgbClr val="75816F"/>
                </a:solidFill>
                <a:latin typeface="Montserrat"/>
              </a:defRPr>
            </a:pPr>
            <a:r>
              <a:t>с твоего желания.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85216" y="4617720"/>
            <a:ext cx="1874519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94944" y="4695444"/>
            <a:ext cx="1691639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30 / 60 / 120 минут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606040" y="4617720"/>
            <a:ext cx="1600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715768" y="4695444"/>
            <a:ext cx="1417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RU · ҚАЗ · EN</a:t>
            </a:r>
          </a:p>
        </p:txBody>
      </p:sp>
      <p:pic>
        <p:nvPicPr>
          <p:cNvPr id="14" name="Picture 13" descr="seru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17405" y="4206240"/>
            <a:ext cx="2332149" cy="2423159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01 · ПРОБЛЕМА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Иногда сложнее выбрать,</a:t>
            </a:r>
          </a:p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чем просто выйти.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834640"/>
            <a:ext cx="3566160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49808" y="3044952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59536" y="3122676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611880"/>
            <a:ext cx="3163824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3F31"/>
                </a:solidFill>
                <a:latin typeface="Montserrat"/>
              </a:defRPr>
            </a:pPr>
            <a:r>
              <a:t>Есть только час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4526280"/>
            <a:ext cx="3163824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Нужно учесть дорогу</a:t>
            </a:r>
          </a:p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и время на месте.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15968" y="2834640"/>
            <a:ext cx="3566160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517136" y="3044952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26864" y="3122676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17136" y="3611880"/>
            <a:ext cx="3163824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3F31"/>
                </a:solidFill>
                <a:latin typeface="Montserrat"/>
              </a:defRPr>
            </a:pPr>
            <a:r>
              <a:t>Хочется по настроению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17136" y="4526280"/>
            <a:ext cx="3163824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Кофе, тишина, прогулка</a:t>
            </a:r>
          </a:p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или время с ребёнком.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83296" y="2834640"/>
            <a:ext cx="3566160" cy="3063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284464" y="3044952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94192" y="3122676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284464" y="3611880"/>
            <a:ext cx="3163824" cy="7772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3F31"/>
                </a:solidFill>
                <a:latin typeface="Montserrat"/>
              </a:defRPr>
            </a:pPr>
            <a:r>
              <a:t>Город незнаком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84464" y="4526280"/>
            <a:ext cx="3163824" cy="12801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Где начать, что рядом</a:t>
            </a:r>
          </a:p>
          <a:p>
            <a:pPr>
              <a:spcAft>
                <a:spcPts val="700"/>
              </a:spcAft>
              <a:defRPr sz="1500" b="0">
                <a:solidFill>
                  <a:srgbClr val="75816F"/>
                </a:solidFill>
                <a:latin typeface="Montserrat"/>
              </a:defRPr>
            </a:pPr>
            <a:r>
              <a:t>и куда идти дальше?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03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02 · ПРОДУКТ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Один экран. Понятный следующий шаг.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331720"/>
            <a:ext cx="8732520" cy="42062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desktop-wid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89811" y="2395728"/>
            <a:ext cx="7250176" cy="4078224"/>
          </a:xfrm>
          <a:prstGeom prst="rect">
            <a:avLst/>
          </a:prstGeom>
        </p:spPr>
      </p:pic>
      <p:pic>
        <p:nvPicPr>
          <p:cNvPr id="9" name="Picture 8" descr="seru-ma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58943" y="3840480"/>
            <a:ext cx="2376152" cy="24688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9464040" y="2560320"/>
            <a:ext cx="2286000" cy="1463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200" b="1">
                <a:solidFill>
                  <a:srgbClr val="123F31"/>
                </a:solidFill>
                <a:latin typeface="Montserrat"/>
              </a:defRPr>
            </a:pPr>
            <a:r>
              <a:t>Запрос.</a:t>
            </a:r>
          </a:p>
          <a:p>
            <a:pPr>
              <a:spcAft>
                <a:spcPts val="700"/>
              </a:spcAft>
              <a:defRPr sz="2200" b="1">
                <a:solidFill>
                  <a:srgbClr val="123F31"/>
                </a:solidFill>
                <a:latin typeface="Montserrat"/>
              </a:defRPr>
            </a:pPr>
            <a:r>
              <a:t>Выбор.</a:t>
            </a:r>
          </a:p>
          <a:p>
            <a:pPr>
              <a:spcAft>
                <a:spcPts val="700"/>
              </a:spcAft>
              <a:defRPr sz="2200" b="1">
                <a:solidFill>
                  <a:srgbClr val="123F31"/>
                </a:solidFill>
                <a:latin typeface="Montserrat"/>
              </a:defRPr>
            </a:pPr>
            <a:r>
              <a:t>Прогулка.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04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03 · ОТВЕТ ПО ФОРМАТУ ЗАДАНИЯ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1–3 места: почему, сколько времени, что делать.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194560"/>
            <a:ext cx="7406640" cy="82296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286000"/>
            <a:ext cx="7040880" cy="685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1">
                <a:solidFill>
                  <a:srgbClr val="123F31"/>
                </a:solidFill>
                <a:latin typeface="Montserrat"/>
              </a:defRPr>
            </a:pPr>
            <a:r>
              <a:t>«Я у здания Экспо 2017, хочу что-то необычное</a:t>
            </a:r>
          </a:p>
          <a:p>
            <a:pPr>
              <a:spcAft>
                <a:spcPts val="700"/>
              </a:spcAft>
              <a:defRPr sz="1400" b="1">
                <a:solidFill>
                  <a:srgbClr val="123F31"/>
                </a:solidFill>
                <a:latin typeface="Montserrat"/>
              </a:defRPr>
            </a:pPr>
            <a:r>
              <a:t>на 1–2 часа, пешком»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48640" y="3154680"/>
            <a:ext cx="7406640" cy="1719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3282696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Nur Alem Museum of Future Energy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61188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75816F"/>
                </a:solidFill>
                <a:latin typeface="Montserrat"/>
              </a:defRPr>
            </a:pPr>
            <a:r>
              <a:t>980 м · 14 мин пешком · 40–75 мин на месте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904488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23F31"/>
                </a:solidFill>
                <a:latin typeface="Montserrat"/>
              </a:defRPr>
            </a:pPr>
            <a:r>
              <a:t>Почему: Сфера бывшего павильона Казахстана — уже необычный ориентир, а внутри музей с экспозициями об энергии космоса, солнца и ветра.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61688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23F31"/>
                </a:solidFill>
                <a:latin typeface="Montserrat"/>
              </a:defRPr>
            </a:pPr>
            <a:r>
              <a:t>Что делать: Сначала осмотрите этажи с экспозициями об энергии, затем задержитесь у самой сферы и выберите для продолжения прогулки Тәуелсіздіктің 25 жылдығы.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4937760"/>
            <a:ext cx="7406640" cy="1719072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5065776"/>
            <a:ext cx="512064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25-ти летие Независимости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5394960"/>
            <a:ext cx="69494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75816F"/>
                </a:solidFill>
                <a:latin typeface="Montserrat"/>
              </a:defRPr>
            </a:pPr>
            <a:r>
              <a:t>930 м · 13 мин пешком · 15–30 мин на месте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5687568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23F31"/>
                </a:solidFill>
                <a:latin typeface="Montserrat"/>
              </a:defRPr>
            </a:pPr>
            <a:r>
              <a:t>Почему: Эта стела высотой около 70 метров стоит на территории ЭКСПО; её 25 граней символизируют годы независимости.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6144768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00" b="0">
                <a:solidFill>
                  <a:srgbClr val="123F31"/>
                </a:solidFill>
                <a:latin typeface="Montserrat"/>
              </a:defRPr>
            </a:pPr>
            <a:r>
              <a:t>Что делать: Обойдите стелу, рассмотрите её грани и сделайте снимок снизу вверх; затем можно вернуться к сфере Nur Alem.</a:t>
            </a:r>
          </a:p>
        </p:txBody>
      </p:sp>
      <p:pic>
        <p:nvPicPr>
          <p:cNvPr id="19" name="Picture 18" descr="m-answer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942322" y="2240280"/>
            <a:ext cx="2049274" cy="44348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05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04 · КОНТЕКСТ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Факты считает код, а не догадки модели.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5715000" cy="429768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77240" y="2487168"/>
            <a:ext cx="196596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2564892"/>
            <a:ext cx="178308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Сценарий из задания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999232"/>
            <a:ext cx="53035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«Я турист, у меня 2 часа перед вылетом»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3429000"/>
            <a:ext cx="5303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14:00, у Байтерека → быть в аэропорту к 15:45 (запас 15 мин)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77240" y="3840480"/>
            <a:ext cx="5257800" cy="14630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87552" y="4005072"/>
            <a:ext cx="27432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Байтерек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67328" y="3959352"/>
            <a:ext cx="2084831" cy="384048"/>
          </a:xfrm>
          <a:prstGeom prst="roundRect">
            <a:avLst>
              <a:gd name="adj" fmla="val 12000"/>
            </a:avLst>
          </a:prstGeom>
          <a:solidFill>
            <a:srgbClr val="D1E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767328" y="4041648"/>
            <a:ext cx="2084831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>
              <a:spcAft>
                <a:spcPts val="700"/>
              </a:spcAft>
              <a:defRPr sz="1300" b="1">
                <a:solidFill>
                  <a:srgbClr val="123F31"/>
                </a:solidFill>
                <a:latin typeface="Montserrat"/>
              </a:defRPr>
            </a:pPr>
            <a:r>
              <a:t>Выйти до 15:10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987552" y="4526280"/>
            <a:ext cx="92310" cy="128016"/>
          </a:xfrm>
          <a:prstGeom prst="rect">
            <a:avLst/>
          </a:prstGeom>
          <a:solidFill>
            <a:srgbClr val="123F3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079862" y="4526280"/>
            <a:ext cx="1384662" cy="128016"/>
          </a:xfrm>
          <a:prstGeom prst="rect">
            <a:avLst/>
          </a:prstGeom>
          <a:solidFill>
            <a:srgbClr val="D1E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464525" y="4526280"/>
            <a:ext cx="1615440" cy="128016"/>
          </a:xfrm>
          <a:prstGeom prst="rect">
            <a:avLst/>
          </a:prstGeom>
          <a:solidFill>
            <a:srgbClr val="A9B79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079965" y="4526280"/>
            <a:ext cx="1753906" cy="128016"/>
          </a:xfrm>
          <a:prstGeom prst="rect">
            <a:avLst/>
          </a:prstGeom>
          <a:solidFill>
            <a:srgbClr val="E1E7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87552" y="4818888"/>
            <a:ext cx="48920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50" b="0">
                <a:solidFill>
                  <a:srgbClr val="123F31"/>
                </a:solidFill>
                <a:latin typeface="Montserrat"/>
              </a:defRPr>
            </a:pPr>
            <a:r>
              <a:t>2 туда + 30 на месте + 35 обратно = 67 из 105 мин · запас 38 мин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486400"/>
            <a:ext cx="5303520" cy="10058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2 часа — свободное время до аэропорта; такси уже в «Выйти до».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И напоминание: если это время до самого вылета — ехать сразу, на регистрацию нужно 2–3 часа.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29400" y="228600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Часы на момент прихода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29400" y="2615184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Не «открыто сейчас», а когда дойдёшь; в праздники РК уверенность ниже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29400" y="315468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Пешком по улицам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29400" y="3483864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Граф OSM и мосты через Есиль, а не расстояние по прямой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29400" y="402336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Погода, воздух, темнота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29400" y="4352544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Мороз и смог — места в тепле; неосвещённые парки вечером не советуем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29400" y="489204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Дети и доступность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29400" y="5221224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Бары и кальянные исключены кодом; пандусы — только по данным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29400" y="5760720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Только Астана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29400" y="6089904"/>
            <a:ext cx="5029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Места, фото, события и карта — в границах города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06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05 · БОЛЬШЕ, ЧЕМ СПИСОК МЕСТ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Маршруты, фото, голос — и Telegram.</a:t>
            </a:r>
          </a:p>
        </p:txBody>
      </p:sp>
      <p:pic>
        <p:nvPicPr>
          <p:cNvPr id="7" name="Picture 6" descr="m-idea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24202" y="2194560"/>
            <a:ext cx="2049274" cy="44348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4343400" y="22402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Готовые маршруты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343400" y="2569464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50" b="0">
                <a:solidFill>
                  <a:srgbClr val="75816F"/>
                </a:solidFill>
                <a:latin typeface="Montserrat"/>
              </a:defRPr>
            </a:pPr>
            <a:r>
              <a:t>Символы столицы, парки, музеи, кофе, вечер, с ребёнком — от твоей точки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343400" y="297180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«Начать прогулку»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343400" y="3300984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50" b="0">
                <a:solidFill>
                  <a:srgbClr val="75816F"/>
                </a:solidFill>
                <a:latin typeface="Montserrat"/>
              </a:defRPr>
            </a:pPr>
            <a:r>
              <a:t>Весь маршрут по точкам — в 2GIS или Google Картах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343400" y="37033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Фото «Где я?» и голос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343400" y="4032504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50" b="0">
                <a:solidFill>
                  <a:srgbClr val="75816F"/>
                </a:solidFill>
                <a:latin typeface="Montserrat"/>
              </a:defRPr>
            </a:pPr>
            <a:r>
              <a:t>Узнаёт место по фото; вопрос голосом на RU/KK/EN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43400" y="44348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Три языка до названий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43400" y="4764024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50" b="0">
                <a:solidFill>
                  <a:srgbClr val="75816F"/>
                </a:solidFill>
                <a:latin typeface="Montserrat"/>
              </a:defRPr>
            </a:pPr>
            <a:r>
              <a:t>1 882 места и 27 ориентиров: Бәйтерек / Baiterek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43400" y="516636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Телефон и Telegram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5495544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50" b="0">
                <a:solidFill>
                  <a:srgbClr val="75816F"/>
                </a:solidFill>
                <a:latin typeface="Montserrat"/>
              </a:defRPr>
            </a:pPr>
            <a:r>
              <a:t>PWA на экране, прогулка без сети; @SeruendeshAl_bot: фото, голосовые, /routes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43400" y="589788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MCP-коннектор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43400" y="6227064"/>
            <a:ext cx="73152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50" b="0">
                <a:solidFill>
                  <a:srgbClr val="75816F"/>
                </a:solidFill>
                <a:latin typeface="Montserrat"/>
              </a:defRPr>
            </a:pPr>
            <a:r>
              <a:t>Серу как инструмент для Claude и других ИИ-агентов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07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06 · ТЕХНОЛОГИЯ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RAG: код отбирает, ИИ объясняет.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697480"/>
            <a:ext cx="2578608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31520" y="2880360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41248" y="2958084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5204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Понять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42519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Правила + gpt-6-luna: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время, с кем, чего хочется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83280" y="2697480"/>
            <a:ext cx="2578608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566160" y="2880360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75888" y="2958084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66160" y="35204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Отобрать кодом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66160" y="42519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Граф улиц, часы при приходе,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погода и ограничения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17920" y="2697480"/>
            <a:ext cx="2578608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400800" y="2880360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510528" y="2958084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35204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Найти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42519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BM25 + multilingual-e5,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RRF → 10 кандидатов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2697480"/>
            <a:ext cx="2578608" cy="25603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9235440" y="2880360"/>
            <a:ext cx="45720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345167" y="2958084"/>
            <a:ext cx="27432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04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235440" y="3520440"/>
            <a:ext cx="22402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Выбрать и объяснить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235440" y="4251960"/>
            <a:ext cx="224028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gpt-6-luna: 1–3 места,</a:t>
            </a:r>
          </a:p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почему и план визита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48640" y="5532120"/>
            <a:ext cx="11064240" cy="64008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04672" y="5715000"/>
            <a:ext cx="106070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Валидатор: только места из кандидатов, без выдуманных часов и цен; иначе — шаблон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08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07 · ДАННЫЕ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Собраны автоматически. Только Астана.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2578608" cy="155448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450592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123F31"/>
                </a:solidFill>
                <a:latin typeface="Montserrat"/>
              </a:defRPr>
            </a:pPr>
            <a:r>
              <a:t>2268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1546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мест в Астане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2286000"/>
            <a:ext cx="2578608" cy="155448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4448" y="2450592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123F31"/>
                </a:solidFill>
                <a:latin typeface="Montserrat"/>
              </a:defRPr>
            </a:pPr>
            <a:r>
              <a:t>485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31546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часы работы с источником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(21,4% мест, доля растёт)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286000"/>
            <a:ext cx="2578608" cy="155448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2450592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123F31"/>
                </a:solidFill>
                <a:latin typeface="Montserrat"/>
              </a:defRPr>
            </a:pPr>
            <a:r>
              <a:t>194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31546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событий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(Ticketon, Sxodim)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2286000"/>
            <a:ext cx="2578608" cy="155448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53728" y="2450592"/>
            <a:ext cx="219456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400" b="1">
                <a:solidFill>
                  <a:srgbClr val="123F31"/>
                </a:solidFill>
                <a:latin typeface="Montserrat"/>
              </a:defRPr>
            </a:pPr>
            <a:r>
              <a:t>150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3728" y="3154680"/>
            <a:ext cx="228600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частых мест проверены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по источникам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4041648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Места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4334256"/>
            <a:ext cx="5440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50" b="0">
                <a:solidFill>
                  <a:srgbClr val="75816F"/>
                </a:solidFill>
                <a:latin typeface="Montserrat"/>
              </a:defRPr>
            </a:pPr>
            <a:r>
              <a:t>OpenStreetMap, Overture, Wikidata, Википедия — make data; раз в неделю заново и PR на проверку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041648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Часы — только открытые и официальные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4334256"/>
            <a:ext cx="5440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50" b="0">
                <a:solidFill>
                  <a:srgbClr val="75816F"/>
                </a:solidFill>
                <a:latin typeface="Montserrat"/>
              </a:defRPr>
            </a:pPr>
            <a:r>
              <a:t>OSM, сайты мест и сетей, CityPass, официальные порталы; у каждого — источник и дата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" y="489204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События и погода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5184648"/>
            <a:ext cx="5440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50" b="0">
                <a:solidFill>
                  <a:srgbClr val="75816F"/>
                </a:solidFill>
                <a:latin typeface="Montserrat"/>
              </a:defRPr>
            </a:pPr>
            <a:r>
              <a:t>Афиша — Ticketon и Sxodim; погода и воздух — Open-Meteo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63640" y="4892040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2ГИС сознательно не используем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184648"/>
            <a:ext cx="5440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50" b="0">
                <a:solidFill>
                  <a:srgbClr val="75816F"/>
                </a:solidFill>
                <a:latin typeface="Montserrat"/>
              </a:defRPr>
            </a:pPr>
            <a:r>
              <a:t>Лицензия запрещает извлекать и хранить их данные; на карточке — «Открыть в 2ГИС»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5742432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Нет данных — так и пишем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035040"/>
            <a:ext cx="5440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50" b="0">
                <a:solidFill>
                  <a:srgbClr val="75816F"/>
                </a:solidFill>
                <a:latin typeface="Montserrat"/>
              </a:defRPr>
            </a:pPr>
            <a:r>
              <a:t>«Часы неизвестны» вместо догадки; рейтинги не показываем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263640" y="5742432"/>
            <a:ext cx="54406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Фото со ссылкой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6035040"/>
            <a:ext cx="54406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150" b="0">
                <a:solidFill>
                  <a:srgbClr val="75816F"/>
                </a:solidFill>
                <a:latin typeface="Montserrat"/>
              </a:defRPr>
            </a:pPr>
            <a:r>
              <a:t>Commons или сайт заведения, проверены ИИ-зрением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09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08 · ДОВЕРИЕ И ПРИВАТНОСТЬ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Полезный ответ показывает свои границы.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40280"/>
            <a:ext cx="132588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8368" y="2318004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Доверие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81635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Источник и дата рядом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145536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Часы, описание и фото — со ссылкой; «туда + на месте = … из … мин» на каждой карточке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078224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Неизвестное видно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407408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«Часы неизвестны», «идея ИИ»; в праздники РК уверенность в часах ниже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340096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Отметки посетителей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5669280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«Было закрыто» только снижает доверие к часам; «понравилось» его не повышает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572000" y="2240280"/>
            <a:ext cx="1325880" cy="347472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81728" y="2318004"/>
            <a:ext cx="1143000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123F31"/>
                </a:solidFill>
                <a:latin typeface="Montserrat"/>
              </a:defRPr>
            </a:pPr>
            <a:r>
              <a:t>Приватность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816352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Локация ~100 м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3145536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Геолокацию спрашиваем только после запроса; округляем и в ИИ не отправляем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4078224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До ИИ — без лишнего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407408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Координаты, номера домов, телефоны маскируются; адрес старта — геокодеру, не ИИ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572000" y="5340096"/>
            <a:ext cx="3749039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Голос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5669280"/>
            <a:ext cx="3749039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На сайте — речевой сервис браузера (Chrome отправляет звук в Google); голосовые в Telegram расшифровывает OpenAI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641080" y="2240280"/>
            <a:ext cx="3017520" cy="3392424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4" name="Picture 23" descr="place-detail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686800" y="2290572"/>
            <a:ext cx="2926080" cy="329184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66344" y="256032"/>
            <a:ext cx="292608" cy="384048"/>
          </a:xfrm>
          <a:prstGeom prst="roundRect">
            <a:avLst>
              <a:gd name="adj" fmla="val 12000"/>
            </a:avLst>
          </a:prstGeom>
          <a:solidFill>
            <a:srgbClr val="FAF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FFFFFF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D1E884"/>
                </a:solidFill>
                <a:latin typeface="Montserrat"/>
              </a:defRPr>
            </a:pPr>
            <a:r>
              <a:t>10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D1E884"/>
                </a:solidFill>
                <a:latin typeface="Montserrat"/>
              </a:defRPr>
            </a:pPr>
            <a:r>
              <a:t>09 · ДЛЯ ГОРОДА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FFFFFF"/>
                </a:solidFill>
                <a:latin typeface="Montserrat"/>
              </a:defRPr>
            </a:pPr>
            <a:r>
              <a:t>Карта спроса для акимата — без личных данных.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2240280"/>
            <a:ext cx="6675120" cy="43434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insigh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18132" y="2313432"/>
            <a:ext cx="4136136" cy="420624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635240" y="237744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Что ищут, где и когда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2779776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D1E884"/>
                </a:solidFill>
                <a:latin typeface="Montserrat"/>
              </a:defRPr>
            </a:pPr>
            <a:r>
              <a:t>Темы, районы ≈1 км, время суток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35240" y="340156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Где город не отвечает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35240" y="3803904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D1E884"/>
                </a:solidFill>
                <a:latin typeface="Montserrat"/>
              </a:defRPr>
            </a:pPr>
            <a:r>
              <a:t>Рядом нет подходящего или всё закрыто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635240" y="4425696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k-анонимно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635240" y="4828032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D1E884"/>
                </a:solidFill>
                <a:latin typeface="Montserrat"/>
              </a:defRPr>
            </a:pPr>
            <a:r>
              <a:t>Только счётчики, значения от 5 запросов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635240" y="5449824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800" b="1">
                <a:solidFill>
                  <a:srgbClr val="FFFFFF"/>
                </a:solidFill>
                <a:latin typeface="Montserrat"/>
              </a:defRPr>
            </a:pPr>
            <a:r>
              <a:t>Открытые данные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35240" y="5852160"/>
            <a:ext cx="402336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D1E884"/>
                </a:solidFill>
                <a:latin typeface="Montserrat"/>
              </a:defRPr>
            </a:pPr>
            <a:r>
              <a:t>JSON для городских дашбордов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11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10 · ПРОВЕРКА КАЧЕСТВА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Проверяем сценарии, а не обещания.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514600"/>
            <a:ext cx="2578608" cy="192024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74320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600" b="1">
                <a:solidFill>
                  <a:srgbClr val="123F31"/>
                </a:solidFill>
                <a:latin typeface="Montserrat"/>
              </a:defRPr>
            </a:pPr>
            <a:r>
              <a:t>170/170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61188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проверок на 15 сценариях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(продакшен, 19.10)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383280" y="2514600"/>
            <a:ext cx="2578608" cy="192024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584448" y="274320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600" b="1">
                <a:solidFill>
                  <a:srgbClr val="123F31"/>
                </a:solidFill>
                <a:latin typeface="Montserrat"/>
              </a:defRPr>
            </a:pPr>
            <a:r>
              <a:t>4,4 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584448" y="361188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медиана ответа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(продакшен, 19.10)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17920" y="2514600"/>
            <a:ext cx="2578608" cy="192024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19088" y="274320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600" b="1">
                <a:solidFill>
                  <a:srgbClr val="123F31"/>
                </a:solidFill>
                <a:latin typeface="Montserrat"/>
              </a:defRPr>
            </a:pPr>
            <a:r>
              <a:t>~1 340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19088" y="361188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автотестов в CI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на каждый push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52560" y="2514600"/>
            <a:ext cx="2578608" cy="192024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253728" y="2743200"/>
            <a:ext cx="2240280" cy="7315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600" b="1">
                <a:solidFill>
                  <a:srgbClr val="123F31"/>
                </a:solidFill>
                <a:latin typeface="Montserrat"/>
              </a:defRPr>
            </a:pPr>
            <a:r>
              <a:t>20/23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53728" y="3611880"/>
            <a:ext cx="2240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ответов без</a:t>
            </a:r>
          </a:p>
          <a:p>
            <a:pPr>
              <a:spcAft>
                <a:spcPts val="700"/>
              </a:spcAft>
              <a:defRPr sz="1200" b="0">
                <a:solidFill>
                  <a:srgbClr val="75816F"/>
                </a:solidFill>
                <a:latin typeface="Montserrat"/>
              </a:defRPr>
            </a:pPr>
            <a:r>
              <a:t>неподтверждённых фактов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663440"/>
            <a:ext cx="10972800" cy="320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Автотесты: бэкенд 559 · данные 361 · QA 374 · поиск 7 · бот 12 · фронтенд 17 + 12 в браузере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" y="52578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1">
                <a:solidFill>
                  <a:srgbClr val="123F31"/>
                </a:solidFill>
                <a:latin typeface="Montserrat"/>
              </a:defRPr>
            </a:pPr>
            <a:r>
              <a:t>Что дальше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715000"/>
            <a:ext cx="1088136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75816F"/>
                </a:solidFill>
                <a:latin typeface="Montserrat"/>
              </a:defRPr>
            </a:pPr>
            <a:r>
              <a:t>Проверка полезности на реальных прогулках и больше часов работы из официальных источников.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12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11 · ОГРАНИЧЕНИЯ И РИСКИ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Что может пойти не так — и что мы делаем.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2286000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2505456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Данные неполные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2532888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часы работы с источником: 485 мест (21,4%); ещё 500 открытых территорий — «вход свободный»; у остальных — «часы неизвестны»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3136392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335584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Часы меняются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57600" y="3383280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у часов — источник и дата; праздники РК и «было закрыто» снижают доверие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3986784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4206240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ИИ может ошибиться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57600" y="4233672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валидатор, честный шаблон и метка «идея ИИ»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4837176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5056632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Приватность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0" y="5084064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локация ~100 м и не уходит в ИИ; аналитика только k-анонимная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5687568"/>
            <a:ext cx="11064240" cy="7315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solidFill>
              <a:srgbClr val="E1E7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5907024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700" b="1">
                <a:solidFill>
                  <a:srgbClr val="123F31"/>
                </a:solidFill>
                <a:latin typeface="Montserrat"/>
              </a:defRPr>
            </a:pPr>
            <a:r>
              <a:t>Лицензии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5934456"/>
            <a:ext cx="7772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только открытые и официальные источники; данные 2ГИС и Google не используем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BF6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3" name="TextBox 2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123F31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75816F"/>
                </a:solidFill>
                <a:latin typeface="Montserrat"/>
              </a:defRPr>
            </a:pPr>
            <a:r>
              <a:t>13 /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75816F"/>
                </a:solidFill>
                <a:latin typeface="Montserrat"/>
              </a:defRPr>
            </a:pPr>
            <a:r>
              <a:t>12 · БИЗНЕС И РАЗВИТИЕ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353312"/>
            <a:ext cx="10972800" cy="12344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3200" b="1">
                <a:solidFill>
                  <a:srgbClr val="123F31"/>
                </a:solidFill>
                <a:latin typeface="Montserrat"/>
              </a:defRPr>
            </a:pPr>
            <a:r>
              <a:t>Модуль для умного города.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237744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B2G white-label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2779776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Smart Astana, Visit Astana, киоски аэропорта NQZ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6616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Аналитика для акимата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68496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«Для города»: спрос и пробелы по районам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754880"/>
            <a:ext cx="566928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Партнёры-заведения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5157216"/>
            <a:ext cx="566928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400" b="0">
                <a:solidFill>
                  <a:srgbClr val="75816F"/>
                </a:solidFill>
                <a:latin typeface="Montserrat"/>
              </a:defRPr>
            </a:pPr>
            <a:r>
              <a:t>Сами обновляют часы и фото; реклама помечена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675120" y="2331720"/>
            <a:ext cx="4937760" cy="3931920"/>
          </a:xfrm>
          <a:prstGeom prst="roundRect">
            <a:avLst>
              <a:gd name="adj" fmla="val 12000"/>
            </a:avLst>
          </a:prstGeom>
          <a:solidFill>
            <a:srgbClr val="EFF3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0" y="2560320"/>
            <a:ext cx="4389120" cy="411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000" b="1">
                <a:solidFill>
                  <a:srgbClr val="123F31"/>
                </a:solidFill>
                <a:latin typeface="Montserrat"/>
              </a:defRPr>
            </a:pPr>
            <a:r>
              <a:t>План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949440" y="315468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Пилот 1–2 мес.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49440" y="352044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реальные прогулки, данные НИЦ о часах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949440" y="411480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v2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9440" y="448056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групповой режим, микро-квесты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949440" y="5074920"/>
            <a:ext cx="438912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1">
                <a:solidFill>
                  <a:srgbClr val="123F31"/>
                </a:solidFill>
                <a:latin typeface="Montserrat"/>
              </a:defRPr>
            </a:pPr>
            <a:r>
              <a:t>v3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49440" y="544068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300" b="0">
                <a:solidFill>
                  <a:srgbClr val="75816F"/>
                </a:solidFill>
                <a:latin typeface="Montserrat"/>
              </a:defRPr>
            </a:pPr>
            <a:r>
              <a:t>киоски, офлайн для туристов, API для НИЦ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03D31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66344" y="256032"/>
            <a:ext cx="292608" cy="384048"/>
          </a:xfrm>
          <a:prstGeom prst="roundRect">
            <a:avLst>
              <a:gd name="adj" fmla="val 12000"/>
            </a:avLst>
          </a:prstGeom>
          <a:solidFill>
            <a:srgbClr val="FAFB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01752"/>
            <a:ext cx="219456" cy="292608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832104" y="310896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500" b="1">
                <a:solidFill>
                  <a:srgbClr val="FFFFFF"/>
                </a:solidFill>
                <a:latin typeface="Montserrat"/>
              </a:defRPr>
            </a:pPr>
            <a:r>
              <a:t>SeruendeshAI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789920" y="329184"/>
            <a:ext cx="822960" cy="228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0">
                <a:solidFill>
                  <a:srgbClr val="D1E884"/>
                </a:solidFill>
                <a:latin typeface="Montserrat"/>
              </a:defRPr>
            </a:pPr>
            <a:r>
              <a:t>14 / 14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9144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000" b="1">
                <a:solidFill>
                  <a:srgbClr val="D1E884"/>
                </a:solidFill>
                <a:latin typeface="Montserrat"/>
              </a:defRPr>
            </a:pPr>
            <a:r>
              <a:t>13 · ПРИГЛАШЕНИЕ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645920"/>
            <a:ext cx="8138160" cy="1691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4300" b="1">
                <a:solidFill>
                  <a:srgbClr val="FFFFFF"/>
                </a:solidFill>
                <a:latin typeface="Montserrat"/>
              </a:defRPr>
            </a:pPr>
            <a:r>
              <a:t>Меньше планирования.</a:t>
            </a:r>
          </a:p>
          <a:p>
            <a:pPr>
              <a:spcAft>
                <a:spcPts val="700"/>
              </a:spcAft>
              <a:defRPr sz="4300" b="1">
                <a:solidFill>
                  <a:srgbClr val="FFFFFF"/>
                </a:solidFill>
                <a:latin typeface="Montserrat"/>
              </a:defRPr>
            </a:pPr>
            <a:r>
              <a:t>Больше открытий.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3657600"/>
            <a:ext cx="786384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100" b="0">
                <a:solidFill>
                  <a:srgbClr val="D1E884"/>
                </a:solidFill>
                <a:latin typeface="Montserrat"/>
              </a:defRPr>
            </a:pPr>
            <a:r>
              <a:t>Твоя следующая прогулка начинается здесь.</a:t>
            </a:r>
          </a:p>
        </p:txBody>
      </p:sp>
      <p:sp>
        <p:nvSpPr>
          <p:cNvPr id="9" name="Rounded Rectangle 8">
            <a:hlinkClick r:id="rId4"/>
          </p:cNvPr>
          <p:cNvSpPr/>
          <p:nvPr/>
        </p:nvSpPr>
        <p:spPr>
          <a:xfrm>
            <a:off x="621792" y="4617720"/>
            <a:ext cx="5212080" cy="822960"/>
          </a:xfrm>
          <a:prstGeom prst="roundRect">
            <a:avLst>
              <a:gd name="adj" fmla="val 12000"/>
            </a:avLst>
          </a:prstGeom>
          <a:solidFill>
            <a:srgbClr val="D1E8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4828032"/>
            <a:ext cx="4754880" cy="4572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2700" b="1">
                <a:solidFill>
                  <a:srgbClr val="123F31"/>
                </a:solidFill>
                <a:latin typeface="Montserrat"/>
              </a:defRPr>
            </a:pPr>
            <a:r>
              <a:rPr u="none">
                <a:solidFill>
                  <a:srgbClr val="123F31"/>
                </a:solidFill>
                <a:hlinkClick r:id="rId4"/>
              </a:rPr>
              <a:t>seruendesh.site ↗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5669280"/>
            <a:ext cx="54864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spcAft>
                <a:spcPts val="700"/>
              </a:spcAft>
              <a:defRPr sz="1600" b="0">
                <a:solidFill>
                  <a:srgbClr val="D1E884"/>
                </a:solidFill>
                <a:latin typeface="Montserrat"/>
              </a:defRPr>
            </a:pPr>
            <a:r>
              <a:t>Telegram: @SeruendeshAl_bot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686800" y="1508760"/>
            <a:ext cx="2651760" cy="265176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3" name="Picture 12" descr="qr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851392" y="1673352"/>
            <a:ext cx="2322576" cy="2322576"/>
          </a:xfrm>
          <a:prstGeom prst="rect">
            <a:avLst/>
          </a:prstGeom>
        </p:spPr>
      </p:pic>
      <p:pic>
        <p:nvPicPr>
          <p:cNvPr id="14" name="Picture 13" descr="seru-map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574861" y="4023360"/>
            <a:ext cx="2464157" cy="256032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23F31"/>
      </a:hlink>
      <a:folHlink>
        <a:srgbClr val="123F3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123F31"/>
      </a:hlink>
      <a:folHlink>
        <a:srgbClr val="123F31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